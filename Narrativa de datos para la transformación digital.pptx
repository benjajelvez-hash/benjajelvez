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3225CF-5336-408C-BD7B-B27B016B6373}" v="2" dt="2026-08-24T23:27:39.8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jamin  Jelvez Espinoza" userId="a76dd752-27ff-46ca-bf5b-4e4114485b66" providerId="ADAL" clId="{2E0693CC-170F-494B-A016-8C4D7DB7E715}"/>
    <pc:docChg chg="undo custSel modSld">
      <pc:chgData name="Benjamin  Jelvez Espinoza" userId="a76dd752-27ff-46ca-bf5b-4e4114485b66" providerId="ADAL" clId="{2E0693CC-170F-494B-A016-8C4D7DB7E715}" dt="2026-08-24T23:28:00.696" v="30" actId="26606"/>
      <pc:docMkLst>
        <pc:docMk/>
      </pc:docMkLst>
      <pc:sldChg chg="addSp delSp modSp mod setBg">
        <pc:chgData name="Benjamin  Jelvez Espinoza" userId="a76dd752-27ff-46ca-bf5b-4e4114485b66" providerId="ADAL" clId="{2E0693CC-170F-494B-A016-8C4D7DB7E715}" dt="2026-08-24T23:28:00.696" v="30" actId="26606"/>
        <pc:sldMkLst>
          <pc:docMk/>
          <pc:sldMk cId="1272829940" sldId="256"/>
        </pc:sldMkLst>
        <pc:spChg chg="mod">
          <ac:chgData name="Benjamin  Jelvez Espinoza" userId="a76dd752-27ff-46ca-bf5b-4e4114485b66" providerId="ADAL" clId="{2E0693CC-170F-494B-A016-8C4D7DB7E715}" dt="2026-08-24T23:28:00.696" v="30" actId="26606"/>
          <ac:spMkLst>
            <pc:docMk/>
            <pc:sldMk cId="1272829940" sldId="256"/>
            <ac:spMk id="2" creationId="{64D90F7D-EAA2-323B-F1C1-9ABE33AA9A0C}"/>
          </ac:spMkLst>
        </pc:spChg>
        <pc:spChg chg="mod">
          <ac:chgData name="Benjamin  Jelvez Espinoza" userId="a76dd752-27ff-46ca-bf5b-4e4114485b66" providerId="ADAL" clId="{2E0693CC-170F-494B-A016-8C4D7DB7E715}" dt="2026-08-24T23:28:00.696" v="30" actId="26606"/>
          <ac:spMkLst>
            <pc:docMk/>
            <pc:sldMk cId="1272829940" sldId="256"/>
            <ac:spMk id="3" creationId="{2D11A5D8-22D5-28D3-F8B4-BE020ABC4398}"/>
          </ac:spMkLst>
        </pc:spChg>
        <pc:spChg chg="add del">
          <ac:chgData name="Benjamin  Jelvez Espinoza" userId="a76dd752-27ff-46ca-bf5b-4e4114485b66" providerId="ADAL" clId="{2E0693CC-170F-494B-A016-8C4D7DB7E715}" dt="2026-08-24T23:28:00.678" v="29" actId="26606"/>
          <ac:spMkLst>
            <pc:docMk/>
            <pc:sldMk cId="1272829940" sldId="256"/>
            <ac:spMk id="8" creationId="{6DDA8CE9-E0A6-4FF2-823D-D08607606DC2}"/>
          </ac:spMkLst>
        </pc:spChg>
        <pc:spChg chg="add del">
          <ac:chgData name="Benjamin  Jelvez Espinoza" userId="a76dd752-27ff-46ca-bf5b-4e4114485b66" providerId="ADAL" clId="{2E0693CC-170F-494B-A016-8C4D7DB7E715}" dt="2026-08-24T23:28:00.678" v="29" actId="26606"/>
          <ac:spMkLst>
            <pc:docMk/>
            <pc:sldMk cId="1272829940" sldId="256"/>
            <ac:spMk id="10" creationId="{11195564-33B9-434B-9641-764F5905A56F}"/>
          </ac:spMkLst>
        </pc:spChg>
        <pc:spChg chg="add">
          <ac:chgData name="Benjamin  Jelvez Espinoza" userId="a76dd752-27ff-46ca-bf5b-4e4114485b66" providerId="ADAL" clId="{2E0693CC-170F-494B-A016-8C4D7DB7E715}" dt="2026-08-24T23:28:00.696" v="30" actId="26606"/>
          <ac:spMkLst>
            <pc:docMk/>
            <pc:sldMk cId="1272829940" sldId="256"/>
            <ac:spMk id="23" creationId="{A8DB9CD9-59B1-4D73-BC4C-98796A48EF9B}"/>
          </ac:spMkLst>
        </pc:spChg>
        <pc:spChg chg="add">
          <ac:chgData name="Benjamin  Jelvez Espinoza" userId="a76dd752-27ff-46ca-bf5b-4e4114485b66" providerId="ADAL" clId="{2E0693CC-170F-494B-A016-8C4D7DB7E715}" dt="2026-08-24T23:28:00.696" v="30" actId="26606"/>
          <ac:spMkLst>
            <pc:docMk/>
            <pc:sldMk cId="1272829940" sldId="256"/>
            <ac:spMk id="24" creationId="{8874A6A9-41FF-4E33-AFA8-F9F81436A59E}"/>
          </ac:spMkLst>
        </pc:spChg>
        <pc:grpChg chg="add del">
          <ac:chgData name="Benjamin  Jelvez Espinoza" userId="a76dd752-27ff-46ca-bf5b-4e4114485b66" providerId="ADAL" clId="{2E0693CC-170F-494B-A016-8C4D7DB7E715}" dt="2026-08-24T23:28:00.678" v="29" actId="26606"/>
          <ac:grpSpMkLst>
            <pc:docMk/>
            <pc:sldMk cId="1272829940" sldId="256"/>
            <ac:grpSpMk id="12" creationId="{1D18C537-E336-47C4-836B-C342A230F8F3}"/>
          </ac:grpSpMkLst>
        </pc:grpChg>
        <pc:grpChg chg="add del">
          <ac:chgData name="Benjamin  Jelvez Espinoza" userId="a76dd752-27ff-46ca-bf5b-4e4114485b66" providerId="ADAL" clId="{2E0693CC-170F-494B-A016-8C4D7DB7E715}" dt="2026-08-24T23:28:00.678" v="29" actId="26606"/>
          <ac:grpSpMkLst>
            <pc:docMk/>
            <pc:sldMk cId="1272829940" sldId="256"/>
            <ac:grpSpMk id="18" creationId="{5A1259D8-0C3A-4069-A22F-537BBBB61A9C}"/>
          </ac:grpSpMkLst>
        </pc:grpChg>
        <pc:grpChg chg="add">
          <ac:chgData name="Benjamin  Jelvez Espinoza" userId="a76dd752-27ff-46ca-bf5b-4e4114485b66" providerId="ADAL" clId="{2E0693CC-170F-494B-A016-8C4D7DB7E715}" dt="2026-08-24T23:28:00.696" v="30" actId="26606"/>
          <ac:grpSpMkLst>
            <pc:docMk/>
            <pc:sldMk cId="1272829940" sldId="256"/>
            <ac:grpSpMk id="25" creationId="{721D730E-1F97-4071-B143-B05E6D2599BC}"/>
          </ac:grpSpMkLst>
        </pc:grpChg>
      </pc:sldChg>
      <pc:sldChg chg="addSp delSp modSp mod">
        <pc:chgData name="Benjamin  Jelvez Espinoza" userId="a76dd752-27ff-46ca-bf5b-4e4114485b66" providerId="ADAL" clId="{2E0693CC-170F-494B-A016-8C4D7DB7E715}" dt="2026-08-24T23:27:09.096" v="1" actId="26606"/>
        <pc:sldMkLst>
          <pc:docMk/>
          <pc:sldMk cId="55057849" sldId="257"/>
        </pc:sldMkLst>
        <pc:spChg chg="mod">
          <ac:chgData name="Benjamin  Jelvez Espinoza" userId="a76dd752-27ff-46ca-bf5b-4e4114485b66" providerId="ADAL" clId="{2E0693CC-170F-494B-A016-8C4D7DB7E715}" dt="2026-08-24T23:27:09.096" v="1" actId="26606"/>
          <ac:spMkLst>
            <pc:docMk/>
            <pc:sldMk cId="55057849" sldId="257"/>
            <ac:spMk id="2" creationId="{4E9F7C5F-744F-5258-7026-A63DF28185A7}"/>
          </ac:spMkLst>
        </pc:spChg>
        <pc:spChg chg="del">
          <ac:chgData name="Benjamin  Jelvez Espinoza" userId="a76dd752-27ff-46ca-bf5b-4e4114485b66" providerId="ADAL" clId="{2E0693CC-170F-494B-A016-8C4D7DB7E715}" dt="2026-08-24T23:27:09.096" v="1" actId="26606"/>
          <ac:spMkLst>
            <pc:docMk/>
            <pc:sldMk cId="55057849" sldId="257"/>
            <ac:spMk id="17" creationId="{B6FACB3C-9069-4791-BC5C-0DB7CD19B853}"/>
          </ac:spMkLst>
        </pc:spChg>
        <pc:spChg chg="del">
          <ac:chgData name="Benjamin  Jelvez Espinoza" userId="a76dd752-27ff-46ca-bf5b-4e4114485b66" providerId="ADAL" clId="{2E0693CC-170F-494B-A016-8C4D7DB7E715}" dt="2026-08-24T23:27:09.096" v="1" actId="26606"/>
          <ac:spMkLst>
            <pc:docMk/>
            <pc:sldMk cId="55057849" sldId="257"/>
            <ac:spMk id="19" creationId="{71F2038E-D777-4B76-81DD-DD13EE91B9DD}"/>
          </ac:spMkLst>
        </pc:spChg>
        <pc:spChg chg="add">
          <ac:chgData name="Benjamin  Jelvez Espinoza" userId="a76dd752-27ff-46ca-bf5b-4e4114485b66" providerId="ADAL" clId="{2E0693CC-170F-494B-A016-8C4D7DB7E715}" dt="2026-08-24T23:27:09.096" v="1" actId="26606"/>
          <ac:spMkLst>
            <pc:docMk/>
            <pc:sldMk cId="55057849" sldId="257"/>
            <ac:spMk id="30" creationId="{B6FACB3C-9069-4791-BC5C-0DB7CD19B853}"/>
          </ac:spMkLst>
        </pc:spChg>
        <pc:spChg chg="add">
          <ac:chgData name="Benjamin  Jelvez Espinoza" userId="a76dd752-27ff-46ca-bf5b-4e4114485b66" providerId="ADAL" clId="{2E0693CC-170F-494B-A016-8C4D7DB7E715}" dt="2026-08-24T23:27:09.096" v="1" actId="26606"/>
          <ac:spMkLst>
            <pc:docMk/>
            <pc:sldMk cId="55057849" sldId="257"/>
            <ac:spMk id="32" creationId="{71F2038E-D777-4B76-81DD-DD13EE91B9DD}"/>
          </ac:spMkLst>
        </pc:spChg>
        <pc:grpChg chg="del">
          <ac:chgData name="Benjamin  Jelvez Espinoza" userId="a76dd752-27ff-46ca-bf5b-4e4114485b66" providerId="ADAL" clId="{2E0693CC-170F-494B-A016-8C4D7DB7E715}" dt="2026-08-24T23:27:09.096" v="1" actId="26606"/>
          <ac:grpSpMkLst>
            <pc:docMk/>
            <pc:sldMk cId="55057849" sldId="257"/>
            <ac:grpSpMk id="21" creationId="{DD354807-230F-4402-B1B9-F733A8F1F190}"/>
          </ac:grpSpMkLst>
        </pc:grpChg>
        <pc:grpChg chg="add">
          <ac:chgData name="Benjamin  Jelvez Espinoza" userId="a76dd752-27ff-46ca-bf5b-4e4114485b66" providerId="ADAL" clId="{2E0693CC-170F-494B-A016-8C4D7DB7E715}" dt="2026-08-24T23:27:09.096" v="1" actId="26606"/>
          <ac:grpSpMkLst>
            <pc:docMk/>
            <pc:sldMk cId="55057849" sldId="257"/>
            <ac:grpSpMk id="34" creationId="{DD354807-230F-4402-B1B9-F733A8F1F190}"/>
          </ac:grpSpMkLst>
        </pc:grpChg>
        <pc:graphicFrameChg chg="add mod">
          <ac:chgData name="Benjamin  Jelvez Espinoza" userId="a76dd752-27ff-46ca-bf5b-4e4114485b66" providerId="ADAL" clId="{2E0693CC-170F-494B-A016-8C4D7DB7E715}" dt="2026-08-24T23:27:09.096" v="1" actId="26606"/>
          <ac:graphicFrameMkLst>
            <pc:docMk/>
            <pc:sldMk cId="55057849" sldId="257"/>
            <ac:graphicFrameMk id="11" creationId="{C639A9DD-79A6-F1BC-864E-20FAB66E82B0}"/>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jul-23</c:v>
                </c:pt>
              </c:strCache>
            </c:strRef>
          </c:tx>
          <c:spPr>
            <a:solidFill>
              <a:schemeClr val="accent1"/>
            </a:solidFill>
            <a:ln>
              <a:noFill/>
            </a:ln>
            <a:effectLst/>
          </c:spPr>
          <c:invertIfNegative val="0"/>
          <c:cat>
            <c:strRef>
              <c:f>Hoja1!$A$2:$A$5</c:f>
              <c:strCache>
                <c:ptCount val="4"/>
                <c:pt idx="0">
                  <c:v>Productividad (%)</c:v>
                </c:pt>
                <c:pt idx="1">
                  <c:v>Procesos Digitalizados (%)</c:v>
                </c:pt>
                <c:pt idx="2">
                  <c:v>Adopción Sistemas (%)</c:v>
                </c:pt>
                <c:pt idx="3">
                  <c:v>ROI (%)</c:v>
                </c:pt>
              </c:strCache>
            </c:strRef>
          </c:cat>
          <c:val>
            <c:numRef>
              <c:f>Hoja1!$B$2:$B$5</c:f>
              <c:numCache>
                <c:formatCode>General</c:formatCode>
                <c:ptCount val="4"/>
                <c:pt idx="0">
                  <c:v>71.650000000000006</c:v>
                </c:pt>
                <c:pt idx="1">
                  <c:v>15</c:v>
                </c:pt>
                <c:pt idx="2">
                  <c:v>0.1</c:v>
                </c:pt>
                <c:pt idx="3">
                  <c:v>-15.1</c:v>
                </c:pt>
              </c:numCache>
            </c:numRef>
          </c:val>
          <c:extLst>
            <c:ext xmlns:c16="http://schemas.microsoft.com/office/drawing/2014/chart" uri="{C3380CC4-5D6E-409C-BE32-E72D297353CC}">
              <c16:uniqueId val="{00000000-245B-4BB9-B49D-0BC40F5A4D75}"/>
            </c:ext>
          </c:extLst>
        </c:ser>
        <c:ser>
          <c:idx val="1"/>
          <c:order val="1"/>
          <c:tx>
            <c:strRef>
              <c:f>Hoja1!$C$1</c:f>
              <c:strCache>
                <c:ptCount val="1"/>
                <c:pt idx="0">
                  <c:v>mar-25</c:v>
                </c:pt>
              </c:strCache>
            </c:strRef>
          </c:tx>
          <c:spPr>
            <a:solidFill>
              <a:schemeClr val="accent2"/>
            </a:solidFill>
            <a:ln>
              <a:noFill/>
            </a:ln>
            <a:effectLst/>
          </c:spPr>
          <c:invertIfNegative val="0"/>
          <c:cat>
            <c:strRef>
              <c:f>Hoja1!$A$2:$A$5</c:f>
              <c:strCache>
                <c:ptCount val="4"/>
                <c:pt idx="0">
                  <c:v>Productividad (%)</c:v>
                </c:pt>
                <c:pt idx="1">
                  <c:v>Procesos Digitalizados (%)</c:v>
                </c:pt>
                <c:pt idx="2">
                  <c:v>Adopción Sistemas (%)</c:v>
                </c:pt>
                <c:pt idx="3">
                  <c:v>ROI (%)</c:v>
                </c:pt>
              </c:strCache>
            </c:strRef>
          </c:cat>
          <c:val>
            <c:numRef>
              <c:f>Hoja1!$C$2:$C$5</c:f>
              <c:numCache>
                <c:formatCode>General</c:formatCode>
                <c:ptCount val="4"/>
                <c:pt idx="0">
                  <c:v>86.79</c:v>
                </c:pt>
                <c:pt idx="1">
                  <c:v>89.5</c:v>
                </c:pt>
                <c:pt idx="2">
                  <c:v>95.4</c:v>
                </c:pt>
                <c:pt idx="3">
                  <c:v>10.9</c:v>
                </c:pt>
              </c:numCache>
            </c:numRef>
          </c:val>
          <c:extLst>
            <c:ext xmlns:c16="http://schemas.microsoft.com/office/drawing/2014/chart" uri="{C3380CC4-5D6E-409C-BE32-E72D297353CC}">
              <c16:uniqueId val="{00000001-245B-4BB9-B49D-0BC40F5A4D75}"/>
            </c:ext>
          </c:extLst>
        </c:ser>
        <c:dLbls>
          <c:showLegendKey val="0"/>
          <c:showVal val="0"/>
          <c:showCatName val="0"/>
          <c:showSerName val="0"/>
          <c:showPercent val="0"/>
          <c:showBubbleSize val="0"/>
        </c:dLbls>
        <c:gapWidth val="219"/>
        <c:overlap val="-27"/>
        <c:axId val="1956641664"/>
        <c:axId val="34765520"/>
      </c:barChart>
      <c:catAx>
        <c:axId val="1956641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 spcFirstLastPara="1" vertOverflow="ellipsis" wrap="square" anchor="ctr" anchorCtr="0"/>
          <a:lstStyle/>
          <a:p>
            <a:pPr>
              <a:defRPr sz="1197" b="0" i="0" u="none" strike="noStrike" kern="1200" baseline="0">
                <a:solidFill>
                  <a:schemeClr val="tx1">
                    <a:lumMod val="65000"/>
                    <a:lumOff val="35000"/>
                  </a:schemeClr>
                </a:solidFill>
                <a:latin typeface="+mn-lt"/>
                <a:ea typeface="+mn-ea"/>
                <a:cs typeface="+mn-cs"/>
              </a:defRPr>
            </a:pPr>
            <a:endParaRPr lang="es-CL"/>
          </a:p>
        </c:txPr>
        <c:crossAx val="34765520"/>
        <c:crosses val="autoZero"/>
        <c:auto val="1"/>
        <c:lblAlgn val="ctr"/>
        <c:lblOffset val="100"/>
        <c:noMultiLvlLbl val="0"/>
      </c:catAx>
      <c:valAx>
        <c:axId val="347655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19566416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L" sz="1800" b="0" i="0">
                <a:effectLst/>
                <a:latin typeface="Segoe UI" panose="020B0502040204020203" pitchFamily="34" charset="0"/>
              </a:rPr>
              <a:t>Productividad y eficiencia</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lineChart>
        <c:grouping val="standard"/>
        <c:varyColors val="0"/>
        <c:ser>
          <c:idx val="0"/>
          <c:order val="0"/>
          <c:tx>
            <c:strRef>
              <c:f>Hoja1!$B$1</c:f>
              <c:strCache>
                <c:ptCount val="1"/>
                <c:pt idx="0">
                  <c:v>Productividad</c:v>
                </c:pt>
              </c:strCache>
            </c:strRef>
          </c:tx>
          <c:spPr>
            <a:ln w="28575" cap="rnd">
              <a:solidFill>
                <a:schemeClr val="accent1"/>
              </a:solidFill>
              <a:round/>
            </a:ln>
            <a:effectLst/>
          </c:spPr>
          <c:marker>
            <c:symbol val="none"/>
          </c:marker>
          <c:cat>
            <c:numRef>
              <c:f>Hoja1!$A$2:$A$6</c:f>
              <c:numCache>
                <c:formatCode>mmm\-yy</c:formatCode>
                <c:ptCount val="5"/>
                <c:pt idx="0">
                  <c:v>45108</c:v>
                </c:pt>
                <c:pt idx="1">
                  <c:v>45323</c:v>
                </c:pt>
                <c:pt idx="2">
                  <c:v>45352</c:v>
                </c:pt>
                <c:pt idx="3">
                  <c:v>45444</c:v>
                </c:pt>
                <c:pt idx="4">
                  <c:v>45717</c:v>
                </c:pt>
              </c:numCache>
            </c:numRef>
          </c:cat>
          <c:val>
            <c:numRef>
              <c:f>Hoja1!$B$2:$B$6</c:f>
              <c:numCache>
                <c:formatCode>General</c:formatCode>
                <c:ptCount val="5"/>
                <c:pt idx="0">
                  <c:v>71.650000000000006</c:v>
                </c:pt>
                <c:pt idx="1">
                  <c:v>75.17</c:v>
                </c:pt>
                <c:pt idx="2">
                  <c:v>82.4</c:v>
                </c:pt>
                <c:pt idx="3">
                  <c:v>86.28</c:v>
                </c:pt>
                <c:pt idx="4">
                  <c:v>86.79</c:v>
                </c:pt>
              </c:numCache>
            </c:numRef>
          </c:val>
          <c:smooth val="0"/>
          <c:extLst>
            <c:ext xmlns:c16="http://schemas.microsoft.com/office/drawing/2014/chart" uri="{C3380CC4-5D6E-409C-BE32-E72D297353CC}">
              <c16:uniqueId val="{00000000-B78B-4677-B13C-5AD193B8CF5F}"/>
            </c:ext>
          </c:extLst>
        </c:ser>
        <c:ser>
          <c:idx val="1"/>
          <c:order val="1"/>
          <c:tx>
            <c:strRef>
              <c:f>Hoja1!$C$1</c:f>
              <c:strCache>
                <c:ptCount val="1"/>
                <c:pt idx="0">
                  <c:v>Unidades</c:v>
                </c:pt>
              </c:strCache>
            </c:strRef>
          </c:tx>
          <c:spPr>
            <a:ln w="28575" cap="rnd">
              <a:solidFill>
                <a:schemeClr val="accent2"/>
              </a:solidFill>
              <a:round/>
            </a:ln>
            <a:effectLst/>
          </c:spPr>
          <c:marker>
            <c:symbol val="none"/>
          </c:marker>
          <c:cat>
            <c:numRef>
              <c:f>Hoja1!$A$2:$A$6</c:f>
              <c:numCache>
                <c:formatCode>mmm\-yy</c:formatCode>
                <c:ptCount val="5"/>
                <c:pt idx="0">
                  <c:v>45108</c:v>
                </c:pt>
                <c:pt idx="1">
                  <c:v>45323</c:v>
                </c:pt>
                <c:pt idx="2">
                  <c:v>45352</c:v>
                </c:pt>
                <c:pt idx="3">
                  <c:v>45444</c:v>
                </c:pt>
                <c:pt idx="4">
                  <c:v>45717</c:v>
                </c:pt>
              </c:numCache>
            </c:numRef>
          </c:cat>
          <c:val>
            <c:numRef>
              <c:f>Hoja1!$C$2:$C$6</c:f>
              <c:numCache>
                <c:formatCode>General</c:formatCode>
                <c:ptCount val="5"/>
                <c:pt idx="0">
                  <c:v>447</c:v>
                </c:pt>
                <c:pt idx="1">
                  <c:v>483</c:v>
                </c:pt>
                <c:pt idx="2">
                  <c:v>565</c:v>
                </c:pt>
                <c:pt idx="3">
                  <c:v>610</c:v>
                </c:pt>
                <c:pt idx="4">
                  <c:v>611</c:v>
                </c:pt>
              </c:numCache>
            </c:numRef>
          </c:val>
          <c:smooth val="0"/>
          <c:extLst>
            <c:ext xmlns:c16="http://schemas.microsoft.com/office/drawing/2014/chart" uri="{C3380CC4-5D6E-409C-BE32-E72D297353CC}">
              <c16:uniqueId val="{00000001-B78B-4677-B13C-5AD193B8CF5F}"/>
            </c:ext>
          </c:extLst>
        </c:ser>
        <c:dLbls>
          <c:showLegendKey val="0"/>
          <c:showVal val="0"/>
          <c:showCatName val="0"/>
          <c:showSerName val="0"/>
          <c:showPercent val="0"/>
          <c:showBubbleSize val="0"/>
        </c:dLbls>
        <c:marker val="1"/>
        <c:smooth val="0"/>
        <c:axId val="2110770400"/>
        <c:axId val="34790960"/>
      </c:lineChart>
      <c:lineChart>
        <c:grouping val="standard"/>
        <c:varyColors val="0"/>
        <c:ser>
          <c:idx val="2"/>
          <c:order val="2"/>
          <c:tx>
            <c:strRef>
              <c:f>Hoja1!$D$1</c:f>
              <c:strCache>
                <c:ptCount val="1"/>
                <c:pt idx="0">
                  <c:v>Tiempo Ciclo</c:v>
                </c:pt>
              </c:strCache>
            </c:strRef>
          </c:tx>
          <c:spPr>
            <a:ln w="28575" cap="rnd">
              <a:solidFill>
                <a:schemeClr val="accent3"/>
              </a:solidFill>
              <a:round/>
            </a:ln>
            <a:effectLst/>
          </c:spPr>
          <c:marker>
            <c:symbol val="none"/>
          </c:marker>
          <c:cat>
            <c:numRef>
              <c:f>Hoja1!$A$2:$A$6</c:f>
              <c:numCache>
                <c:formatCode>mmm\-yy</c:formatCode>
                <c:ptCount val="5"/>
                <c:pt idx="0">
                  <c:v>45108</c:v>
                </c:pt>
                <c:pt idx="1">
                  <c:v>45323</c:v>
                </c:pt>
                <c:pt idx="2">
                  <c:v>45352</c:v>
                </c:pt>
                <c:pt idx="3">
                  <c:v>45444</c:v>
                </c:pt>
                <c:pt idx="4">
                  <c:v>45717</c:v>
                </c:pt>
              </c:numCache>
            </c:numRef>
          </c:cat>
          <c:val>
            <c:numRef>
              <c:f>Hoja1!$D$2:$D$6</c:f>
              <c:numCache>
                <c:formatCode>General</c:formatCode>
                <c:ptCount val="5"/>
                <c:pt idx="0">
                  <c:v>8.52</c:v>
                </c:pt>
                <c:pt idx="1">
                  <c:v>7.75</c:v>
                </c:pt>
                <c:pt idx="2">
                  <c:v>6.19</c:v>
                </c:pt>
                <c:pt idx="3">
                  <c:v>5.35</c:v>
                </c:pt>
                <c:pt idx="4">
                  <c:v>5.3</c:v>
                </c:pt>
              </c:numCache>
            </c:numRef>
          </c:val>
          <c:smooth val="0"/>
          <c:extLst>
            <c:ext xmlns:c16="http://schemas.microsoft.com/office/drawing/2014/chart" uri="{C3380CC4-5D6E-409C-BE32-E72D297353CC}">
              <c16:uniqueId val="{00000002-B78B-4677-B13C-5AD193B8CF5F}"/>
            </c:ext>
          </c:extLst>
        </c:ser>
        <c:dLbls>
          <c:showLegendKey val="0"/>
          <c:showVal val="0"/>
          <c:showCatName val="0"/>
          <c:showSerName val="0"/>
          <c:showPercent val="0"/>
          <c:showBubbleSize val="0"/>
        </c:dLbls>
        <c:marker val="1"/>
        <c:smooth val="0"/>
        <c:axId val="42674304"/>
        <c:axId val="34749680"/>
      </c:lineChart>
      <c:dateAx>
        <c:axId val="2110770400"/>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34790960"/>
        <c:crosses val="autoZero"/>
        <c:auto val="1"/>
        <c:lblOffset val="100"/>
        <c:baseTimeUnit val="months"/>
      </c:dateAx>
      <c:valAx>
        <c:axId val="347909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2110770400"/>
        <c:crosses val="autoZero"/>
        <c:crossBetween val="between"/>
      </c:valAx>
      <c:valAx>
        <c:axId val="3474968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42674304"/>
        <c:crosses val="max"/>
        <c:crossBetween val="between"/>
      </c:valAx>
      <c:dateAx>
        <c:axId val="42674304"/>
        <c:scaling>
          <c:orientation val="minMax"/>
        </c:scaling>
        <c:delete val="1"/>
        <c:axPos val="b"/>
        <c:numFmt formatCode="mmm\-yy" sourceLinked="1"/>
        <c:majorTickMark val="out"/>
        <c:minorTickMark val="none"/>
        <c:tickLblPos val="nextTo"/>
        <c:crossAx val="34749680"/>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L" sz="1800" b="0" i="0">
                <a:effectLst/>
                <a:latin typeface="Segoe UI" panose="020B0502040204020203" pitchFamily="34" charset="0"/>
              </a:rPr>
              <a:t>Calidad y satisfacción del cliente mejoran significativamente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Tasa Defectos (%)</c:v>
                </c:pt>
              </c:strCache>
            </c:strRef>
          </c:tx>
          <c:spPr>
            <a:solidFill>
              <a:schemeClr val="accent1"/>
            </a:solidFill>
            <a:ln>
              <a:noFill/>
            </a:ln>
            <a:effectLst/>
          </c:spPr>
          <c:invertIfNegative val="0"/>
          <c:cat>
            <c:numRef>
              <c:f>Hoja1!$A$2:$A$5</c:f>
              <c:numCache>
                <c:formatCode>mmm\-yy</c:formatCode>
                <c:ptCount val="4"/>
                <c:pt idx="0">
                  <c:v>45108</c:v>
                </c:pt>
                <c:pt idx="1">
                  <c:v>45323</c:v>
                </c:pt>
                <c:pt idx="2">
                  <c:v>45352</c:v>
                </c:pt>
                <c:pt idx="3">
                  <c:v>45444</c:v>
                </c:pt>
              </c:numCache>
            </c:numRef>
          </c:cat>
          <c:val>
            <c:numRef>
              <c:f>Hoja1!$B$2:$B$5</c:f>
              <c:numCache>
                <c:formatCode>General</c:formatCode>
                <c:ptCount val="4"/>
                <c:pt idx="0">
                  <c:v>4.17</c:v>
                </c:pt>
                <c:pt idx="1">
                  <c:v>3.44</c:v>
                </c:pt>
                <c:pt idx="2">
                  <c:v>1.79</c:v>
                </c:pt>
                <c:pt idx="3">
                  <c:v>1.2</c:v>
                </c:pt>
              </c:numCache>
            </c:numRef>
          </c:val>
          <c:extLst>
            <c:ext xmlns:c16="http://schemas.microsoft.com/office/drawing/2014/chart" uri="{C3380CC4-5D6E-409C-BE32-E72D297353CC}">
              <c16:uniqueId val="{00000000-9281-46DB-9DD5-48CE0C26CDCE}"/>
            </c:ext>
          </c:extLst>
        </c:ser>
        <c:dLbls>
          <c:showLegendKey val="0"/>
          <c:showVal val="0"/>
          <c:showCatName val="0"/>
          <c:showSerName val="0"/>
          <c:showPercent val="0"/>
          <c:showBubbleSize val="0"/>
        </c:dLbls>
        <c:gapWidth val="219"/>
        <c:overlap val="-27"/>
        <c:axId val="42691936"/>
        <c:axId val="34694960"/>
      </c:barChart>
      <c:lineChart>
        <c:grouping val="standard"/>
        <c:varyColors val="0"/>
        <c:ser>
          <c:idx val="1"/>
          <c:order val="1"/>
          <c:tx>
            <c:strRef>
              <c:f>Hoja1!$C$1</c:f>
              <c:strCache>
                <c:ptCount val="1"/>
                <c:pt idx="0">
                  <c:v>Tasa Reclamos (%)</c:v>
                </c:pt>
              </c:strCache>
            </c:strRef>
          </c:tx>
          <c:spPr>
            <a:ln w="28575" cap="rnd">
              <a:solidFill>
                <a:schemeClr val="accent2"/>
              </a:solidFill>
              <a:round/>
            </a:ln>
            <a:effectLst/>
          </c:spPr>
          <c:marker>
            <c:symbol val="none"/>
          </c:marker>
          <c:cat>
            <c:numRef>
              <c:f>Hoja1!$A$2:$A$5</c:f>
              <c:numCache>
                <c:formatCode>mmm\-yy</c:formatCode>
                <c:ptCount val="4"/>
                <c:pt idx="0">
                  <c:v>45108</c:v>
                </c:pt>
                <c:pt idx="1">
                  <c:v>45323</c:v>
                </c:pt>
                <c:pt idx="2">
                  <c:v>45352</c:v>
                </c:pt>
                <c:pt idx="3">
                  <c:v>45444</c:v>
                </c:pt>
              </c:numCache>
            </c:numRef>
          </c:cat>
          <c:val>
            <c:numRef>
              <c:f>Hoja1!$C$2:$C$5</c:f>
              <c:numCache>
                <c:formatCode>General</c:formatCode>
                <c:ptCount val="4"/>
                <c:pt idx="0">
                  <c:v>8.6</c:v>
                </c:pt>
                <c:pt idx="1">
                  <c:v>7.11</c:v>
                </c:pt>
                <c:pt idx="2">
                  <c:v>4.25</c:v>
                </c:pt>
                <c:pt idx="3">
                  <c:v>2.68</c:v>
                </c:pt>
              </c:numCache>
            </c:numRef>
          </c:val>
          <c:smooth val="0"/>
          <c:extLst>
            <c:ext xmlns:c16="http://schemas.microsoft.com/office/drawing/2014/chart" uri="{C3380CC4-5D6E-409C-BE32-E72D297353CC}">
              <c16:uniqueId val="{00000001-9281-46DB-9DD5-48CE0C26CDCE}"/>
            </c:ext>
          </c:extLst>
        </c:ser>
        <c:dLbls>
          <c:showLegendKey val="0"/>
          <c:showVal val="0"/>
          <c:showCatName val="0"/>
          <c:showSerName val="0"/>
          <c:showPercent val="0"/>
          <c:showBubbleSize val="0"/>
        </c:dLbls>
        <c:marker val="1"/>
        <c:smooth val="0"/>
        <c:axId val="41188416"/>
        <c:axId val="34748720"/>
      </c:lineChart>
      <c:dateAx>
        <c:axId val="42691936"/>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34694960"/>
        <c:crosses val="autoZero"/>
        <c:auto val="1"/>
        <c:lblOffset val="100"/>
        <c:baseTimeUnit val="months"/>
      </c:dateAx>
      <c:valAx>
        <c:axId val="346949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42691936"/>
        <c:crosses val="autoZero"/>
        <c:crossBetween val="between"/>
      </c:valAx>
      <c:valAx>
        <c:axId val="3474872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41188416"/>
        <c:crosses val="max"/>
        <c:crossBetween val="between"/>
      </c:valAx>
      <c:dateAx>
        <c:axId val="41188416"/>
        <c:scaling>
          <c:orientation val="minMax"/>
        </c:scaling>
        <c:delete val="1"/>
        <c:axPos val="b"/>
        <c:numFmt formatCode="mmm\-yy" sourceLinked="1"/>
        <c:majorTickMark val="out"/>
        <c:minorTickMark val="none"/>
        <c:tickLblPos val="nextTo"/>
        <c:crossAx val="34748720"/>
        <c:crosses val="autoZero"/>
        <c:auto val="1"/>
        <c:lblOffset val="100"/>
        <c:baseTimeUnit val="months"/>
        <c:majorUnit val="1"/>
        <c:minorUnit val="1"/>
      </c:date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L" sz="1800" b="0" i="0">
                <a:effectLst/>
                <a:latin typeface="Segoe UI" panose="020B0502040204020203" pitchFamily="34" charset="0"/>
              </a:rPr>
              <a:t>Relación entre adopción digital y productividad manufacturera</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scatterChart>
        <c:scatterStyle val="lineMarker"/>
        <c:varyColors val="0"/>
        <c:ser>
          <c:idx val="0"/>
          <c:order val="0"/>
          <c:tx>
            <c:strRef>
              <c:f>Hoja1!$B$1</c:f>
              <c:strCache>
                <c:ptCount val="1"/>
                <c:pt idx="0">
                  <c:v>productividad_manufactura</c:v>
                </c:pt>
              </c:strCache>
            </c:strRef>
          </c:tx>
          <c:spPr>
            <a:ln w="381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xVal>
            <c:numRef>
              <c:f>Hoja1!$A$2:$A$7</c:f>
              <c:numCache>
                <c:formatCode>General</c:formatCode>
                <c:ptCount val="6"/>
                <c:pt idx="0">
                  <c:v>0.1</c:v>
                </c:pt>
                <c:pt idx="1">
                  <c:v>13.9</c:v>
                </c:pt>
                <c:pt idx="2">
                  <c:v>41.1</c:v>
                </c:pt>
                <c:pt idx="3">
                  <c:v>72.599999999999994</c:v>
                </c:pt>
                <c:pt idx="4">
                  <c:v>90.2</c:v>
                </c:pt>
                <c:pt idx="5">
                  <c:v>99</c:v>
                </c:pt>
              </c:numCache>
            </c:numRef>
          </c:xVal>
          <c:yVal>
            <c:numRef>
              <c:f>Hoja1!$B$2:$B$7</c:f>
              <c:numCache>
                <c:formatCode>General</c:formatCode>
                <c:ptCount val="6"/>
                <c:pt idx="0">
                  <c:v>71.650000000000006</c:v>
                </c:pt>
                <c:pt idx="1">
                  <c:v>73.150000000000006</c:v>
                </c:pt>
                <c:pt idx="2">
                  <c:v>77.77</c:v>
                </c:pt>
                <c:pt idx="3">
                  <c:v>82.4</c:v>
                </c:pt>
                <c:pt idx="4">
                  <c:v>86.35</c:v>
                </c:pt>
                <c:pt idx="5">
                  <c:v>86.79</c:v>
                </c:pt>
              </c:numCache>
            </c:numRef>
          </c:yVal>
          <c:smooth val="0"/>
          <c:extLst>
            <c:ext xmlns:c16="http://schemas.microsoft.com/office/drawing/2014/chart" uri="{C3380CC4-5D6E-409C-BE32-E72D297353CC}">
              <c16:uniqueId val="{00000000-3A24-4122-8189-ECEE4BCAF4EF}"/>
            </c:ext>
          </c:extLst>
        </c:ser>
        <c:dLbls>
          <c:showLegendKey val="0"/>
          <c:showVal val="0"/>
          <c:showCatName val="0"/>
          <c:showSerName val="0"/>
          <c:showPercent val="0"/>
          <c:showBubbleSize val="0"/>
        </c:dLbls>
        <c:axId val="155322960"/>
        <c:axId val="34749200"/>
      </c:scatterChart>
      <c:valAx>
        <c:axId val="155322960"/>
        <c:scaling>
          <c:orientation val="minMax"/>
          <c:max val="10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34749200"/>
        <c:crosses val="autoZero"/>
        <c:crossBetween val="midCat"/>
      </c:valAx>
      <c:valAx>
        <c:axId val="34749200"/>
        <c:scaling>
          <c:orientation val="minMax"/>
          <c:max val="90"/>
          <c:min val="7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155322960"/>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s-CL" sz="1800" b="1" i="0">
                <a:effectLst/>
                <a:latin typeface="Segoe UI" panose="020B0502040204020203" pitchFamily="34" charset="0"/>
              </a:rPr>
              <a:t>Evolución del ROI de la transformación digital</a:t>
            </a:r>
            <a:endParaRPr lang="es-CL" sz="1800" b="0" i="0">
              <a:effectLst/>
              <a:latin typeface="Segoe UI" panose="020B0502040204020203" pitchFamily="34" charset="0"/>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lineChart>
        <c:grouping val="standard"/>
        <c:varyColors val="0"/>
        <c:ser>
          <c:idx val="0"/>
          <c:order val="0"/>
          <c:tx>
            <c:strRef>
              <c:f>Hoja1!$B$1</c:f>
              <c:strCache>
                <c:ptCount val="1"/>
                <c:pt idx="0">
                  <c:v>ROI (%)</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Hoja1!$A$2:$A$7</c:f>
              <c:numCache>
                <c:formatCode>mmm\-yy</c:formatCode>
                <c:ptCount val="6"/>
                <c:pt idx="0">
                  <c:v>45108</c:v>
                </c:pt>
                <c:pt idx="1">
                  <c:v>45261</c:v>
                </c:pt>
                <c:pt idx="2">
                  <c:v>45352</c:v>
                </c:pt>
                <c:pt idx="3">
                  <c:v>45383</c:v>
                </c:pt>
                <c:pt idx="4">
                  <c:v>45474</c:v>
                </c:pt>
                <c:pt idx="5">
                  <c:v>45717</c:v>
                </c:pt>
              </c:numCache>
            </c:numRef>
          </c:cat>
          <c:val>
            <c:numRef>
              <c:f>Hoja1!$B$2:$B$7</c:f>
              <c:numCache>
                <c:formatCode>General</c:formatCode>
                <c:ptCount val="6"/>
                <c:pt idx="0">
                  <c:v>-15.1</c:v>
                </c:pt>
                <c:pt idx="1">
                  <c:v>-13.8</c:v>
                </c:pt>
                <c:pt idx="2">
                  <c:v>-7.3</c:v>
                </c:pt>
                <c:pt idx="3">
                  <c:v>0.6</c:v>
                </c:pt>
                <c:pt idx="4">
                  <c:v>10.5</c:v>
                </c:pt>
                <c:pt idx="5">
                  <c:v>10.9</c:v>
                </c:pt>
              </c:numCache>
            </c:numRef>
          </c:val>
          <c:smooth val="0"/>
          <c:extLst>
            <c:ext xmlns:c16="http://schemas.microsoft.com/office/drawing/2014/chart" uri="{C3380CC4-5D6E-409C-BE32-E72D297353CC}">
              <c16:uniqueId val="{00000000-F2B3-4EA1-8555-4EA995DAB12F}"/>
            </c:ext>
          </c:extLst>
        </c:ser>
        <c:dLbls>
          <c:showLegendKey val="0"/>
          <c:showVal val="0"/>
          <c:showCatName val="0"/>
          <c:showSerName val="0"/>
          <c:showPercent val="0"/>
          <c:showBubbleSize val="0"/>
        </c:dLbls>
        <c:marker val="1"/>
        <c:smooth val="0"/>
        <c:axId val="42654816"/>
        <c:axId val="34796720"/>
      </c:lineChart>
      <c:dateAx>
        <c:axId val="42654816"/>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34796720"/>
        <c:crosses val="autoZero"/>
        <c:auto val="1"/>
        <c:lblOffset val="100"/>
        <c:baseTimeUnit val="months"/>
      </c:dateAx>
      <c:valAx>
        <c:axId val="347967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426548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s-CL"/>
        </a:p>
      </c:txPr>
    </c:title>
    <c:autoTitleDeleted val="0"/>
    <c:plotArea>
      <c:layout/>
      <c:barChart>
        <c:barDir val="bar"/>
        <c:grouping val="clustered"/>
        <c:varyColors val="0"/>
        <c:ser>
          <c:idx val="0"/>
          <c:order val="0"/>
          <c:tx>
            <c:strRef>
              <c:f>Hoja1!$B$1</c:f>
              <c:strCache>
                <c:ptCount val="1"/>
                <c:pt idx="0">
                  <c:v>Prioridad</c:v>
                </c:pt>
              </c:strCache>
            </c:strRef>
          </c:tx>
          <c:spPr>
            <a:solidFill>
              <a:schemeClr val="accent1"/>
            </a:solidFill>
            <a:ln>
              <a:noFill/>
            </a:ln>
            <a:effectLst/>
          </c:spPr>
          <c:invertIfNegative val="0"/>
          <c:cat>
            <c:strRef>
              <c:f>Hoja1!$A$2:$A$5</c:f>
              <c:strCache>
                <c:ptCount val="4"/>
                <c:pt idx="0">
                  <c:v>Analítica de datos</c:v>
                </c:pt>
                <c:pt idx="1">
                  <c:v>Capacitación continua</c:v>
                </c:pt>
                <c:pt idx="2">
                  <c:v>Automatización avanzada</c:v>
                </c:pt>
                <c:pt idx="3">
                  <c:v>IA en operaciones</c:v>
                </c:pt>
              </c:strCache>
            </c:strRef>
          </c:cat>
          <c:val>
            <c:numRef>
              <c:f>Hoja1!$B$2:$B$5</c:f>
              <c:numCache>
                <c:formatCode>General</c:formatCode>
                <c:ptCount val="4"/>
                <c:pt idx="0">
                  <c:v>95</c:v>
                </c:pt>
                <c:pt idx="1">
                  <c:v>90</c:v>
                </c:pt>
                <c:pt idx="2">
                  <c:v>85</c:v>
                </c:pt>
                <c:pt idx="3">
                  <c:v>75</c:v>
                </c:pt>
              </c:numCache>
            </c:numRef>
          </c:val>
          <c:extLst>
            <c:ext xmlns:c16="http://schemas.microsoft.com/office/drawing/2014/chart" uri="{C3380CC4-5D6E-409C-BE32-E72D297353CC}">
              <c16:uniqueId val="{00000000-F39B-4D3E-9253-85185DF8BD59}"/>
            </c:ext>
          </c:extLst>
        </c:ser>
        <c:dLbls>
          <c:showLegendKey val="0"/>
          <c:showVal val="0"/>
          <c:showCatName val="0"/>
          <c:showSerName val="0"/>
          <c:showPercent val="0"/>
          <c:showBubbleSize val="0"/>
        </c:dLbls>
        <c:gapWidth val="182"/>
        <c:axId val="155345696"/>
        <c:axId val="34730480"/>
      </c:barChart>
      <c:catAx>
        <c:axId val="15534569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34730480"/>
        <c:crosses val="autoZero"/>
        <c:auto val="1"/>
        <c:lblAlgn val="ctr"/>
        <c:lblOffset val="100"/>
        <c:noMultiLvlLbl val="0"/>
      </c:catAx>
      <c:valAx>
        <c:axId val="3473048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crossAx val="1553456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5DF24D-03BA-4542-A61C-4215B04938A1}" type="datetimeFigureOut">
              <a:rPr lang="es-CL" smtClean="0"/>
              <a:t>24-08-2026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D2C8FC-ED65-49CB-8787-73034E0E990C}" type="slidenum">
              <a:rPr lang="es-CL" smtClean="0"/>
              <a:t>‹Nº›</a:t>
            </a:fld>
            <a:endParaRPr lang="es-CL"/>
          </a:p>
        </p:txBody>
      </p:sp>
    </p:spTree>
    <p:extLst>
      <p:ext uri="{BB962C8B-B14F-4D97-AF65-F5344CB8AC3E}">
        <p14:creationId xmlns:p14="http://schemas.microsoft.com/office/powerpoint/2010/main" val="4274029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3BD2C8FC-ED65-49CB-8787-73034E0E990C}" type="slidenum">
              <a:rPr lang="es-CL" smtClean="0"/>
              <a:t>5</a:t>
            </a:fld>
            <a:endParaRPr lang="es-CL"/>
          </a:p>
        </p:txBody>
      </p:sp>
    </p:spTree>
    <p:extLst>
      <p:ext uri="{BB962C8B-B14F-4D97-AF65-F5344CB8AC3E}">
        <p14:creationId xmlns:p14="http://schemas.microsoft.com/office/powerpoint/2010/main" val="3064782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AABAD6-B6BF-A360-39F5-AE1CE942AD40}"/>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L"/>
          </a:p>
        </p:txBody>
      </p:sp>
      <p:sp>
        <p:nvSpPr>
          <p:cNvPr id="3" name="Subtítulo 2">
            <a:extLst>
              <a:ext uri="{FF2B5EF4-FFF2-40B4-BE49-F238E27FC236}">
                <a16:creationId xmlns:a16="http://schemas.microsoft.com/office/drawing/2014/main" id="{4D65D869-FBE7-B75D-C5BE-95B8943975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L"/>
          </a:p>
        </p:txBody>
      </p:sp>
      <p:sp>
        <p:nvSpPr>
          <p:cNvPr id="4" name="Marcador de fecha 3">
            <a:extLst>
              <a:ext uri="{FF2B5EF4-FFF2-40B4-BE49-F238E27FC236}">
                <a16:creationId xmlns:a16="http://schemas.microsoft.com/office/drawing/2014/main" id="{CB823D0F-5BCD-0F10-F3F7-721D16DA65B2}"/>
              </a:ext>
            </a:extLst>
          </p:cNvPr>
          <p:cNvSpPr>
            <a:spLocks noGrp="1"/>
          </p:cNvSpPr>
          <p:nvPr>
            <p:ph type="dt" sz="half" idx="10"/>
          </p:nvPr>
        </p:nvSpPr>
        <p:spPr/>
        <p:txBody>
          <a:bodyPr/>
          <a:lstStyle/>
          <a:p>
            <a:fld id="{95C871A2-7547-4376-A3CD-AA5ECE618070}" type="datetimeFigureOut">
              <a:rPr lang="es-CL" smtClean="0"/>
              <a:t>24-08-2026</a:t>
            </a:fld>
            <a:endParaRPr lang="es-CL"/>
          </a:p>
        </p:txBody>
      </p:sp>
      <p:sp>
        <p:nvSpPr>
          <p:cNvPr id="5" name="Marcador de pie de página 4">
            <a:extLst>
              <a:ext uri="{FF2B5EF4-FFF2-40B4-BE49-F238E27FC236}">
                <a16:creationId xmlns:a16="http://schemas.microsoft.com/office/drawing/2014/main" id="{3F1ADF65-751C-07E3-08D4-9984E9EA70CA}"/>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D82CEA58-5640-4C3D-E5F6-C3264038E9B5}"/>
              </a:ext>
            </a:extLst>
          </p:cNvPr>
          <p:cNvSpPr>
            <a:spLocks noGrp="1"/>
          </p:cNvSpPr>
          <p:nvPr>
            <p:ph type="sldNum" sz="quarter" idx="12"/>
          </p:nvPr>
        </p:nvSpPr>
        <p:spPr/>
        <p:txBody>
          <a:bodyPr/>
          <a:lstStyle/>
          <a:p>
            <a:fld id="{3E4B5D39-E1A6-4C9C-A06C-201CE0AF451E}" type="slidenum">
              <a:rPr lang="es-CL" smtClean="0"/>
              <a:t>‹Nº›</a:t>
            </a:fld>
            <a:endParaRPr lang="es-CL"/>
          </a:p>
        </p:txBody>
      </p:sp>
    </p:spTree>
    <p:extLst>
      <p:ext uri="{BB962C8B-B14F-4D97-AF65-F5344CB8AC3E}">
        <p14:creationId xmlns:p14="http://schemas.microsoft.com/office/powerpoint/2010/main" val="2209190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2B72DA-E92A-E78C-FBA7-B7501C7B55B5}"/>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5C7686AE-C480-9860-034D-EA79DD612659}"/>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FBA7A91B-BD95-4AA2-03EB-B87DB7C4736A}"/>
              </a:ext>
            </a:extLst>
          </p:cNvPr>
          <p:cNvSpPr>
            <a:spLocks noGrp="1"/>
          </p:cNvSpPr>
          <p:nvPr>
            <p:ph type="dt" sz="half" idx="10"/>
          </p:nvPr>
        </p:nvSpPr>
        <p:spPr/>
        <p:txBody>
          <a:bodyPr/>
          <a:lstStyle/>
          <a:p>
            <a:fld id="{95C871A2-7547-4376-A3CD-AA5ECE618070}" type="datetimeFigureOut">
              <a:rPr lang="es-CL" smtClean="0"/>
              <a:t>24-08-2026</a:t>
            </a:fld>
            <a:endParaRPr lang="es-CL"/>
          </a:p>
        </p:txBody>
      </p:sp>
      <p:sp>
        <p:nvSpPr>
          <p:cNvPr id="5" name="Marcador de pie de página 4">
            <a:extLst>
              <a:ext uri="{FF2B5EF4-FFF2-40B4-BE49-F238E27FC236}">
                <a16:creationId xmlns:a16="http://schemas.microsoft.com/office/drawing/2014/main" id="{2C30D261-AF4E-7927-DA76-485A20738298}"/>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E9B89C4-2368-0017-33F2-FC6546B2F1B8}"/>
              </a:ext>
            </a:extLst>
          </p:cNvPr>
          <p:cNvSpPr>
            <a:spLocks noGrp="1"/>
          </p:cNvSpPr>
          <p:nvPr>
            <p:ph type="sldNum" sz="quarter" idx="12"/>
          </p:nvPr>
        </p:nvSpPr>
        <p:spPr/>
        <p:txBody>
          <a:bodyPr/>
          <a:lstStyle/>
          <a:p>
            <a:fld id="{3E4B5D39-E1A6-4C9C-A06C-201CE0AF451E}" type="slidenum">
              <a:rPr lang="es-CL" smtClean="0"/>
              <a:t>‹Nº›</a:t>
            </a:fld>
            <a:endParaRPr lang="es-CL"/>
          </a:p>
        </p:txBody>
      </p:sp>
    </p:spTree>
    <p:extLst>
      <p:ext uri="{BB962C8B-B14F-4D97-AF65-F5344CB8AC3E}">
        <p14:creationId xmlns:p14="http://schemas.microsoft.com/office/powerpoint/2010/main" val="845137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D2C80F-39B8-AF94-9506-8464826F9734}"/>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E31A1BD6-1B49-4B5F-1614-C980609668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84054F2B-B6E2-005F-C108-F86D6C0D15F8}"/>
              </a:ext>
            </a:extLst>
          </p:cNvPr>
          <p:cNvSpPr>
            <a:spLocks noGrp="1"/>
          </p:cNvSpPr>
          <p:nvPr>
            <p:ph type="dt" sz="half" idx="10"/>
          </p:nvPr>
        </p:nvSpPr>
        <p:spPr/>
        <p:txBody>
          <a:bodyPr/>
          <a:lstStyle/>
          <a:p>
            <a:fld id="{95C871A2-7547-4376-A3CD-AA5ECE618070}" type="datetimeFigureOut">
              <a:rPr lang="es-CL" smtClean="0"/>
              <a:t>24-08-2026</a:t>
            </a:fld>
            <a:endParaRPr lang="es-CL"/>
          </a:p>
        </p:txBody>
      </p:sp>
      <p:sp>
        <p:nvSpPr>
          <p:cNvPr id="5" name="Marcador de pie de página 4">
            <a:extLst>
              <a:ext uri="{FF2B5EF4-FFF2-40B4-BE49-F238E27FC236}">
                <a16:creationId xmlns:a16="http://schemas.microsoft.com/office/drawing/2014/main" id="{44AD6C80-D406-EB8E-80A1-A902DE421974}"/>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2C528700-8200-9428-9AF4-E2590799327D}"/>
              </a:ext>
            </a:extLst>
          </p:cNvPr>
          <p:cNvSpPr>
            <a:spLocks noGrp="1"/>
          </p:cNvSpPr>
          <p:nvPr>
            <p:ph type="sldNum" sz="quarter" idx="12"/>
          </p:nvPr>
        </p:nvSpPr>
        <p:spPr/>
        <p:txBody>
          <a:bodyPr/>
          <a:lstStyle/>
          <a:p>
            <a:fld id="{3E4B5D39-E1A6-4C9C-A06C-201CE0AF451E}" type="slidenum">
              <a:rPr lang="es-CL" smtClean="0"/>
              <a:t>‹Nº›</a:t>
            </a:fld>
            <a:endParaRPr lang="es-CL"/>
          </a:p>
        </p:txBody>
      </p:sp>
    </p:spTree>
    <p:extLst>
      <p:ext uri="{BB962C8B-B14F-4D97-AF65-F5344CB8AC3E}">
        <p14:creationId xmlns:p14="http://schemas.microsoft.com/office/powerpoint/2010/main" val="1908213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C65607-7407-5A5B-D7F9-E50E28D0597C}"/>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A6888096-C2B6-B1FF-AFAB-CDCE630DCEAB}"/>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contenido 3">
            <a:extLst>
              <a:ext uri="{FF2B5EF4-FFF2-40B4-BE49-F238E27FC236}">
                <a16:creationId xmlns:a16="http://schemas.microsoft.com/office/drawing/2014/main" id="{39966B9D-CE22-63F0-8692-53C80988A4AF}"/>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5" name="Marcador de fecha 4">
            <a:extLst>
              <a:ext uri="{FF2B5EF4-FFF2-40B4-BE49-F238E27FC236}">
                <a16:creationId xmlns:a16="http://schemas.microsoft.com/office/drawing/2014/main" id="{9046737D-ABC6-C805-33A6-A1DC6BA6F8DB}"/>
              </a:ext>
            </a:extLst>
          </p:cNvPr>
          <p:cNvSpPr>
            <a:spLocks noGrp="1"/>
          </p:cNvSpPr>
          <p:nvPr>
            <p:ph type="dt" sz="half" idx="10"/>
          </p:nvPr>
        </p:nvSpPr>
        <p:spPr/>
        <p:txBody>
          <a:bodyPr/>
          <a:lstStyle/>
          <a:p>
            <a:fld id="{95C871A2-7547-4376-A3CD-AA5ECE618070}" type="datetimeFigureOut">
              <a:rPr lang="es-CL" smtClean="0"/>
              <a:t>24-08-2026</a:t>
            </a:fld>
            <a:endParaRPr lang="es-CL"/>
          </a:p>
        </p:txBody>
      </p:sp>
      <p:sp>
        <p:nvSpPr>
          <p:cNvPr id="6" name="Marcador de pie de página 5">
            <a:extLst>
              <a:ext uri="{FF2B5EF4-FFF2-40B4-BE49-F238E27FC236}">
                <a16:creationId xmlns:a16="http://schemas.microsoft.com/office/drawing/2014/main" id="{1432A38E-1F9A-1B32-6E95-737319E66E53}"/>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B59D04E9-0A5E-1D51-3033-651F2C5C4FFF}"/>
              </a:ext>
            </a:extLst>
          </p:cNvPr>
          <p:cNvSpPr>
            <a:spLocks noGrp="1"/>
          </p:cNvSpPr>
          <p:nvPr>
            <p:ph type="sldNum" sz="quarter" idx="12"/>
          </p:nvPr>
        </p:nvSpPr>
        <p:spPr/>
        <p:txBody>
          <a:bodyPr/>
          <a:lstStyle/>
          <a:p>
            <a:fld id="{3E4B5D39-E1A6-4C9C-A06C-201CE0AF451E}" type="slidenum">
              <a:rPr lang="es-CL" smtClean="0"/>
              <a:t>‹Nº›</a:t>
            </a:fld>
            <a:endParaRPr lang="es-CL"/>
          </a:p>
        </p:txBody>
      </p:sp>
    </p:spTree>
    <p:extLst>
      <p:ext uri="{BB962C8B-B14F-4D97-AF65-F5344CB8AC3E}">
        <p14:creationId xmlns:p14="http://schemas.microsoft.com/office/powerpoint/2010/main" val="3175212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416BA8-922C-3655-3F7B-460856664E33}"/>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B5ED8D3F-5A2F-9B77-B541-1C10E36B23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44376C9A-CD16-5423-D22C-E9E13DBB635F}"/>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5" name="Marcador de texto 4">
            <a:extLst>
              <a:ext uri="{FF2B5EF4-FFF2-40B4-BE49-F238E27FC236}">
                <a16:creationId xmlns:a16="http://schemas.microsoft.com/office/drawing/2014/main" id="{C773767B-511D-96E0-213F-599781BE31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E4561E96-A059-66C6-2C47-BB7C5A485BDD}"/>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7" name="Marcador de fecha 6">
            <a:extLst>
              <a:ext uri="{FF2B5EF4-FFF2-40B4-BE49-F238E27FC236}">
                <a16:creationId xmlns:a16="http://schemas.microsoft.com/office/drawing/2014/main" id="{70F29B6D-4026-18DD-A028-A6406F044596}"/>
              </a:ext>
            </a:extLst>
          </p:cNvPr>
          <p:cNvSpPr>
            <a:spLocks noGrp="1"/>
          </p:cNvSpPr>
          <p:nvPr>
            <p:ph type="dt" sz="half" idx="10"/>
          </p:nvPr>
        </p:nvSpPr>
        <p:spPr/>
        <p:txBody>
          <a:bodyPr/>
          <a:lstStyle/>
          <a:p>
            <a:fld id="{95C871A2-7547-4376-A3CD-AA5ECE618070}" type="datetimeFigureOut">
              <a:rPr lang="es-CL" smtClean="0"/>
              <a:t>24-08-2026</a:t>
            </a:fld>
            <a:endParaRPr lang="es-CL"/>
          </a:p>
        </p:txBody>
      </p:sp>
      <p:sp>
        <p:nvSpPr>
          <p:cNvPr id="8" name="Marcador de pie de página 7">
            <a:extLst>
              <a:ext uri="{FF2B5EF4-FFF2-40B4-BE49-F238E27FC236}">
                <a16:creationId xmlns:a16="http://schemas.microsoft.com/office/drawing/2014/main" id="{593A4675-4201-F9E8-93A7-791FECFCEA15}"/>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B5630465-E740-B660-67A9-229FBA612B85}"/>
              </a:ext>
            </a:extLst>
          </p:cNvPr>
          <p:cNvSpPr>
            <a:spLocks noGrp="1"/>
          </p:cNvSpPr>
          <p:nvPr>
            <p:ph type="sldNum" sz="quarter" idx="12"/>
          </p:nvPr>
        </p:nvSpPr>
        <p:spPr/>
        <p:txBody>
          <a:bodyPr/>
          <a:lstStyle/>
          <a:p>
            <a:fld id="{3E4B5D39-E1A6-4C9C-A06C-201CE0AF451E}" type="slidenum">
              <a:rPr lang="es-CL" smtClean="0"/>
              <a:t>‹Nº›</a:t>
            </a:fld>
            <a:endParaRPr lang="es-CL"/>
          </a:p>
        </p:txBody>
      </p:sp>
    </p:spTree>
    <p:extLst>
      <p:ext uri="{BB962C8B-B14F-4D97-AF65-F5344CB8AC3E}">
        <p14:creationId xmlns:p14="http://schemas.microsoft.com/office/powerpoint/2010/main" val="2845926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DC326E-0C2B-4A0C-8BD2-BDBF2BD9AAB3}"/>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fecha 2">
            <a:extLst>
              <a:ext uri="{FF2B5EF4-FFF2-40B4-BE49-F238E27FC236}">
                <a16:creationId xmlns:a16="http://schemas.microsoft.com/office/drawing/2014/main" id="{7038BC7C-237B-6923-2AF0-69EC77F9E598}"/>
              </a:ext>
            </a:extLst>
          </p:cNvPr>
          <p:cNvSpPr>
            <a:spLocks noGrp="1"/>
          </p:cNvSpPr>
          <p:nvPr>
            <p:ph type="dt" sz="half" idx="10"/>
          </p:nvPr>
        </p:nvSpPr>
        <p:spPr/>
        <p:txBody>
          <a:bodyPr/>
          <a:lstStyle/>
          <a:p>
            <a:fld id="{95C871A2-7547-4376-A3CD-AA5ECE618070}" type="datetimeFigureOut">
              <a:rPr lang="es-CL" smtClean="0"/>
              <a:t>24-08-2026</a:t>
            </a:fld>
            <a:endParaRPr lang="es-CL"/>
          </a:p>
        </p:txBody>
      </p:sp>
      <p:sp>
        <p:nvSpPr>
          <p:cNvPr id="4" name="Marcador de pie de página 3">
            <a:extLst>
              <a:ext uri="{FF2B5EF4-FFF2-40B4-BE49-F238E27FC236}">
                <a16:creationId xmlns:a16="http://schemas.microsoft.com/office/drawing/2014/main" id="{E02141E5-6DBD-C018-DB70-D9597C30ACB8}"/>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2B329AE6-83B5-D58B-1715-AFF7167D7144}"/>
              </a:ext>
            </a:extLst>
          </p:cNvPr>
          <p:cNvSpPr>
            <a:spLocks noGrp="1"/>
          </p:cNvSpPr>
          <p:nvPr>
            <p:ph type="sldNum" sz="quarter" idx="12"/>
          </p:nvPr>
        </p:nvSpPr>
        <p:spPr/>
        <p:txBody>
          <a:bodyPr/>
          <a:lstStyle/>
          <a:p>
            <a:fld id="{3E4B5D39-E1A6-4C9C-A06C-201CE0AF451E}" type="slidenum">
              <a:rPr lang="es-CL" smtClean="0"/>
              <a:t>‹Nº›</a:t>
            </a:fld>
            <a:endParaRPr lang="es-CL"/>
          </a:p>
        </p:txBody>
      </p:sp>
    </p:spTree>
    <p:extLst>
      <p:ext uri="{BB962C8B-B14F-4D97-AF65-F5344CB8AC3E}">
        <p14:creationId xmlns:p14="http://schemas.microsoft.com/office/powerpoint/2010/main" val="3985043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1E0A1F6-F15E-576D-08A5-5D48906107C2}"/>
              </a:ext>
            </a:extLst>
          </p:cNvPr>
          <p:cNvSpPr>
            <a:spLocks noGrp="1"/>
          </p:cNvSpPr>
          <p:nvPr>
            <p:ph type="dt" sz="half" idx="10"/>
          </p:nvPr>
        </p:nvSpPr>
        <p:spPr/>
        <p:txBody>
          <a:bodyPr/>
          <a:lstStyle/>
          <a:p>
            <a:fld id="{95C871A2-7547-4376-A3CD-AA5ECE618070}" type="datetimeFigureOut">
              <a:rPr lang="es-CL" smtClean="0"/>
              <a:t>24-08-2026</a:t>
            </a:fld>
            <a:endParaRPr lang="es-CL"/>
          </a:p>
        </p:txBody>
      </p:sp>
      <p:sp>
        <p:nvSpPr>
          <p:cNvPr id="3" name="Marcador de pie de página 2">
            <a:extLst>
              <a:ext uri="{FF2B5EF4-FFF2-40B4-BE49-F238E27FC236}">
                <a16:creationId xmlns:a16="http://schemas.microsoft.com/office/drawing/2014/main" id="{0CEB6AA6-65F3-1B2D-02D5-6ADA9B507DD1}"/>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CAF30557-50A4-EED1-E2BA-B69111B3C144}"/>
              </a:ext>
            </a:extLst>
          </p:cNvPr>
          <p:cNvSpPr>
            <a:spLocks noGrp="1"/>
          </p:cNvSpPr>
          <p:nvPr>
            <p:ph type="sldNum" sz="quarter" idx="12"/>
          </p:nvPr>
        </p:nvSpPr>
        <p:spPr/>
        <p:txBody>
          <a:bodyPr/>
          <a:lstStyle/>
          <a:p>
            <a:fld id="{3E4B5D39-E1A6-4C9C-A06C-201CE0AF451E}" type="slidenum">
              <a:rPr lang="es-CL" smtClean="0"/>
              <a:t>‹Nº›</a:t>
            </a:fld>
            <a:endParaRPr lang="es-CL"/>
          </a:p>
        </p:txBody>
      </p:sp>
    </p:spTree>
    <p:extLst>
      <p:ext uri="{BB962C8B-B14F-4D97-AF65-F5344CB8AC3E}">
        <p14:creationId xmlns:p14="http://schemas.microsoft.com/office/powerpoint/2010/main" val="2229528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0F9ED7-98C3-06BD-643E-813FE660EA7F}"/>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3BE78B48-1391-B76D-9D27-B0DE784D6B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texto 3">
            <a:extLst>
              <a:ext uri="{FF2B5EF4-FFF2-40B4-BE49-F238E27FC236}">
                <a16:creationId xmlns:a16="http://schemas.microsoft.com/office/drawing/2014/main" id="{E8FEE73A-21A5-72BF-FEC7-F6213869C8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A4E778DE-7ADA-8F8B-44B1-A63CFDE6837A}"/>
              </a:ext>
            </a:extLst>
          </p:cNvPr>
          <p:cNvSpPr>
            <a:spLocks noGrp="1"/>
          </p:cNvSpPr>
          <p:nvPr>
            <p:ph type="dt" sz="half" idx="10"/>
          </p:nvPr>
        </p:nvSpPr>
        <p:spPr/>
        <p:txBody>
          <a:bodyPr/>
          <a:lstStyle/>
          <a:p>
            <a:fld id="{95C871A2-7547-4376-A3CD-AA5ECE618070}" type="datetimeFigureOut">
              <a:rPr lang="es-CL" smtClean="0"/>
              <a:t>24-08-2026</a:t>
            </a:fld>
            <a:endParaRPr lang="es-CL"/>
          </a:p>
        </p:txBody>
      </p:sp>
      <p:sp>
        <p:nvSpPr>
          <p:cNvPr id="6" name="Marcador de pie de página 5">
            <a:extLst>
              <a:ext uri="{FF2B5EF4-FFF2-40B4-BE49-F238E27FC236}">
                <a16:creationId xmlns:a16="http://schemas.microsoft.com/office/drawing/2014/main" id="{F3CEFC9E-CBAA-F20E-F810-C8179817BEF6}"/>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04831C2C-D1CE-1482-D148-F4C6051E56FF}"/>
              </a:ext>
            </a:extLst>
          </p:cNvPr>
          <p:cNvSpPr>
            <a:spLocks noGrp="1"/>
          </p:cNvSpPr>
          <p:nvPr>
            <p:ph type="sldNum" sz="quarter" idx="12"/>
          </p:nvPr>
        </p:nvSpPr>
        <p:spPr/>
        <p:txBody>
          <a:bodyPr/>
          <a:lstStyle/>
          <a:p>
            <a:fld id="{3E4B5D39-E1A6-4C9C-A06C-201CE0AF451E}" type="slidenum">
              <a:rPr lang="es-CL" smtClean="0"/>
              <a:t>‹Nº›</a:t>
            </a:fld>
            <a:endParaRPr lang="es-CL"/>
          </a:p>
        </p:txBody>
      </p:sp>
    </p:spTree>
    <p:extLst>
      <p:ext uri="{BB962C8B-B14F-4D97-AF65-F5344CB8AC3E}">
        <p14:creationId xmlns:p14="http://schemas.microsoft.com/office/powerpoint/2010/main" val="2022798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229EF9-3344-52BF-9E43-D70571BAD74B}"/>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L"/>
          </a:p>
        </p:txBody>
      </p:sp>
      <p:sp>
        <p:nvSpPr>
          <p:cNvPr id="3" name="Marcador de posición de imagen 2">
            <a:extLst>
              <a:ext uri="{FF2B5EF4-FFF2-40B4-BE49-F238E27FC236}">
                <a16:creationId xmlns:a16="http://schemas.microsoft.com/office/drawing/2014/main" id="{D6F2C371-7989-E276-D51A-509AE5188F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809E2837-67C3-F10B-83EE-E2F7ECC8DA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4CD58F52-71C5-C537-B07A-4082C97E4FDD}"/>
              </a:ext>
            </a:extLst>
          </p:cNvPr>
          <p:cNvSpPr>
            <a:spLocks noGrp="1"/>
          </p:cNvSpPr>
          <p:nvPr>
            <p:ph type="dt" sz="half" idx="10"/>
          </p:nvPr>
        </p:nvSpPr>
        <p:spPr/>
        <p:txBody>
          <a:bodyPr/>
          <a:lstStyle/>
          <a:p>
            <a:fld id="{95C871A2-7547-4376-A3CD-AA5ECE618070}" type="datetimeFigureOut">
              <a:rPr lang="es-CL" smtClean="0"/>
              <a:t>24-08-2026</a:t>
            </a:fld>
            <a:endParaRPr lang="es-CL"/>
          </a:p>
        </p:txBody>
      </p:sp>
      <p:sp>
        <p:nvSpPr>
          <p:cNvPr id="6" name="Marcador de pie de página 5">
            <a:extLst>
              <a:ext uri="{FF2B5EF4-FFF2-40B4-BE49-F238E27FC236}">
                <a16:creationId xmlns:a16="http://schemas.microsoft.com/office/drawing/2014/main" id="{CC8431A4-08CE-70F1-DB58-E08C9E05DFF3}"/>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7E129AE-3268-213E-2A70-83BAF3D401B2}"/>
              </a:ext>
            </a:extLst>
          </p:cNvPr>
          <p:cNvSpPr>
            <a:spLocks noGrp="1"/>
          </p:cNvSpPr>
          <p:nvPr>
            <p:ph type="sldNum" sz="quarter" idx="12"/>
          </p:nvPr>
        </p:nvSpPr>
        <p:spPr/>
        <p:txBody>
          <a:bodyPr/>
          <a:lstStyle/>
          <a:p>
            <a:fld id="{3E4B5D39-E1A6-4C9C-A06C-201CE0AF451E}" type="slidenum">
              <a:rPr lang="es-CL" smtClean="0"/>
              <a:t>‹Nº›</a:t>
            </a:fld>
            <a:endParaRPr lang="es-CL"/>
          </a:p>
        </p:txBody>
      </p:sp>
    </p:spTree>
    <p:extLst>
      <p:ext uri="{BB962C8B-B14F-4D97-AF65-F5344CB8AC3E}">
        <p14:creationId xmlns:p14="http://schemas.microsoft.com/office/powerpoint/2010/main" val="1013268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E710D-801A-30D6-DDB4-DC76F1AEFF9E}"/>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texto vertical 2">
            <a:extLst>
              <a:ext uri="{FF2B5EF4-FFF2-40B4-BE49-F238E27FC236}">
                <a16:creationId xmlns:a16="http://schemas.microsoft.com/office/drawing/2014/main" id="{54C9C482-1CD8-035D-03BE-E50C59844FC7}"/>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9E9C4340-9928-38F3-A768-57A890183871}"/>
              </a:ext>
            </a:extLst>
          </p:cNvPr>
          <p:cNvSpPr>
            <a:spLocks noGrp="1"/>
          </p:cNvSpPr>
          <p:nvPr>
            <p:ph type="dt" sz="half" idx="10"/>
          </p:nvPr>
        </p:nvSpPr>
        <p:spPr/>
        <p:txBody>
          <a:bodyPr/>
          <a:lstStyle/>
          <a:p>
            <a:fld id="{95C871A2-7547-4376-A3CD-AA5ECE618070}" type="datetimeFigureOut">
              <a:rPr lang="es-CL" smtClean="0"/>
              <a:t>24-08-2026</a:t>
            </a:fld>
            <a:endParaRPr lang="es-CL"/>
          </a:p>
        </p:txBody>
      </p:sp>
      <p:sp>
        <p:nvSpPr>
          <p:cNvPr id="5" name="Marcador de pie de página 4">
            <a:extLst>
              <a:ext uri="{FF2B5EF4-FFF2-40B4-BE49-F238E27FC236}">
                <a16:creationId xmlns:a16="http://schemas.microsoft.com/office/drawing/2014/main" id="{C153AE32-650A-C12E-560F-FA2401ECC6FC}"/>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1D183ED8-3F43-27A0-5FB6-5310BED3A4ED}"/>
              </a:ext>
            </a:extLst>
          </p:cNvPr>
          <p:cNvSpPr>
            <a:spLocks noGrp="1"/>
          </p:cNvSpPr>
          <p:nvPr>
            <p:ph type="sldNum" sz="quarter" idx="12"/>
          </p:nvPr>
        </p:nvSpPr>
        <p:spPr/>
        <p:txBody>
          <a:bodyPr/>
          <a:lstStyle/>
          <a:p>
            <a:fld id="{3E4B5D39-E1A6-4C9C-A06C-201CE0AF451E}" type="slidenum">
              <a:rPr lang="es-CL" smtClean="0"/>
              <a:t>‹Nº›</a:t>
            </a:fld>
            <a:endParaRPr lang="es-CL"/>
          </a:p>
        </p:txBody>
      </p:sp>
    </p:spTree>
    <p:extLst>
      <p:ext uri="{BB962C8B-B14F-4D97-AF65-F5344CB8AC3E}">
        <p14:creationId xmlns:p14="http://schemas.microsoft.com/office/powerpoint/2010/main" val="2596925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6284FFD-4F54-CD49-0B2B-E76F278C3797}"/>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L"/>
          </a:p>
        </p:txBody>
      </p:sp>
      <p:sp>
        <p:nvSpPr>
          <p:cNvPr id="3" name="Marcador de texto vertical 2">
            <a:extLst>
              <a:ext uri="{FF2B5EF4-FFF2-40B4-BE49-F238E27FC236}">
                <a16:creationId xmlns:a16="http://schemas.microsoft.com/office/drawing/2014/main" id="{DF79212D-2AA3-7852-2144-830F99311B25}"/>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CE7D91BC-6B9A-EAAD-BAAD-EBD401F38C91}"/>
              </a:ext>
            </a:extLst>
          </p:cNvPr>
          <p:cNvSpPr>
            <a:spLocks noGrp="1"/>
          </p:cNvSpPr>
          <p:nvPr>
            <p:ph type="dt" sz="half" idx="10"/>
          </p:nvPr>
        </p:nvSpPr>
        <p:spPr/>
        <p:txBody>
          <a:bodyPr/>
          <a:lstStyle/>
          <a:p>
            <a:fld id="{95C871A2-7547-4376-A3CD-AA5ECE618070}" type="datetimeFigureOut">
              <a:rPr lang="es-CL" smtClean="0"/>
              <a:t>24-08-2026</a:t>
            </a:fld>
            <a:endParaRPr lang="es-CL"/>
          </a:p>
        </p:txBody>
      </p:sp>
      <p:sp>
        <p:nvSpPr>
          <p:cNvPr id="5" name="Marcador de pie de página 4">
            <a:extLst>
              <a:ext uri="{FF2B5EF4-FFF2-40B4-BE49-F238E27FC236}">
                <a16:creationId xmlns:a16="http://schemas.microsoft.com/office/drawing/2014/main" id="{E8B6453F-40CE-D4A9-CD44-EE726C61F3B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DCBD2D72-D349-A235-9FE4-AC30D4E704C5}"/>
              </a:ext>
            </a:extLst>
          </p:cNvPr>
          <p:cNvSpPr>
            <a:spLocks noGrp="1"/>
          </p:cNvSpPr>
          <p:nvPr>
            <p:ph type="sldNum" sz="quarter" idx="12"/>
          </p:nvPr>
        </p:nvSpPr>
        <p:spPr/>
        <p:txBody>
          <a:bodyPr/>
          <a:lstStyle/>
          <a:p>
            <a:fld id="{3E4B5D39-E1A6-4C9C-A06C-201CE0AF451E}" type="slidenum">
              <a:rPr lang="es-CL" smtClean="0"/>
              <a:t>‹Nº›</a:t>
            </a:fld>
            <a:endParaRPr lang="es-CL"/>
          </a:p>
        </p:txBody>
      </p:sp>
    </p:spTree>
    <p:extLst>
      <p:ext uri="{BB962C8B-B14F-4D97-AF65-F5344CB8AC3E}">
        <p14:creationId xmlns:p14="http://schemas.microsoft.com/office/powerpoint/2010/main" val="1342717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18A05FE-E75A-9218-A588-9606998EE3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D7DD09F3-E542-1CCE-912E-C36AFCCD5D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70AA4DA5-8641-AA39-874A-50CF6F79A9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C871A2-7547-4376-A3CD-AA5ECE618070}" type="datetimeFigureOut">
              <a:rPr lang="es-CL" smtClean="0"/>
              <a:t>24-08-2026</a:t>
            </a:fld>
            <a:endParaRPr lang="es-CL"/>
          </a:p>
        </p:txBody>
      </p:sp>
      <p:sp>
        <p:nvSpPr>
          <p:cNvPr id="5" name="Marcador de pie de página 4">
            <a:extLst>
              <a:ext uri="{FF2B5EF4-FFF2-40B4-BE49-F238E27FC236}">
                <a16:creationId xmlns:a16="http://schemas.microsoft.com/office/drawing/2014/main" id="{8A2A5108-3AF5-7339-7EFE-ABDE3B4C48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B87D5D71-3948-E690-DD89-71015B747D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4B5D39-E1A6-4C9C-A06C-201CE0AF451E}" type="slidenum">
              <a:rPr lang="es-CL" smtClean="0"/>
              <a:t>‹Nº›</a:t>
            </a:fld>
            <a:endParaRPr lang="es-CL"/>
          </a:p>
        </p:txBody>
      </p:sp>
    </p:spTree>
    <p:extLst>
      <p:ext uri="{BB962C8B-B14F-4D97-AF65-F5344CB8AC3E}">
        <p14:creationId xmlns:p14="http://schemas.microsoft.com/office/powerpoint/2010/main" val="3137186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26"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30"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1"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ítulo 1">
            <a:extLst>
              <a:ext uri="{FF2B5EF4-FFF2-40B4-BE49-F238E27FC236}">
                <a16:creationId xmlns:a16="http://schemas.microsoft.com/office/drawing/2014/main" id="{64D90F7D-EAA2-323B-F1C1-9ABE33AA9A0C}"/>
              </a:ext>
            </a:extLst>
          </p:cNvPr>
          <p:cNvSpPr>
            <a:spLocks noGrp="1"/>
          </p:cNvSpPr>
          <p:nvPr>
            <p:ph type="ctrTitle"/>
          </p:nvPr>
        </p:nvSpPr>
        <p:spPr>
          <a:xfrm>
            <a:off x="3215729" y="1764407"/>
            <a:ext cx="5760846" cy="2310312"/>
          </a:xfrm>
        </p:spPr>
        <p:txBody>
          <a:bodyPr>
            <a:normAutofit/>
          </a:bodyPr>
          <a:lstStyle/>
          <a:p>
            <a:br>
              <a:rPr lang="es-CL" sz="4000">
                <a:solidFill>
                  <a:schemeClr val="tx2"/>
                </a:solidFill>
              </a:rPr>
            </a:br>
            <a:r>
              <a:rPr lang="es-MX" sz="4000">
                <a:solidFill>
                  <a:schemeClr val="tx2"/>
                </a:solidFill>
              </a:rPr>
              <a:t> </a:t>
            </a:r>
            <a:r>
              <a:rPr lang="es-MX" sz="4000" b="1">
                <a:solidFill>
                  <a:schemeClr val="tx2"/>
                </a:solidFill>
              </a:rPr>
              <a:t>Narrativa de datos para la transformación digital </a:t>
            </a:r>
            <a:endParaRPr lang="es-CL" sz="4000">
              <a:solidFill>
                <a:schemeClr val="tx2"/>
              </a:solidFill>
            </a:endParaRPr>
          </a:p>
        </p:txBody>
      </p:sp>
      <p:sp>
        <p:nvSpPr>
          <p:cNvPr id="3" name="Subtítulo 2">
            <a:extLst>
              <a:ext uri="{FF2B5EF4-FFF2-40B4-BE49-F238E27FC236}">
                <a16:creationId xmlns:a16="http://schemas.microsoft.com/office/drawing/2014/main" id="{2D11A5D8-22D5-28D3-F8B4-BE020ABC4398}"/>
              </a:ext>
            </a:extLst>
          </p:cNvPr>
          <p:cNvSpPr>
            <a:spLocks noGrp="1"/>
          </p:cNvSpPr>
          <p:nvPr>
            <p:ph type="subTitle" idx="1"/>
          </p:nvPr>
        </p:nvSpPr>
        <p:spPr>
          <a:xfrm>
            <a:off x="3215729" y="4165152"/>
            <a:ext cx="5760846" cy="682079"/>
          </a:xfrm>
        </p:spPr>
        <p:txBody>
          <a:bodyPr>
            <a:normAutofit/>
          </a:bodyPr>
          <a:lstStyle/>
          <a:p>
            <a:r>
              <a:rPr lang="es-CL">
                <a:solidFill>
                  <a:schemeClr val="tx2"/>
                </a:solidFill>
              </a:rPr>
              <a:t>Por Benjamín Jelvez</a:t>
            </a:r>
          </a:p>
        </p:txBody>
      </p:sp>
    </p:spTree>
    <p:extLst>
      <p:ext uri="{BB962C8B-B14F-4D97-AF65-F5344CB8AC3E}">
        <p14:creationId xmlns:p14="http://schemas.microsoft.com/office/powerpoint/2010/main" val="1272829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E9F7C5F-744F-5258-7026-A63DF28185A7}"/>
              </a:ext>
            </a:extLst>
          </p:cNvPr>
          <p:cNvSpPr>
            <a:spLocks noGrp="1"/>
          </p:cNvSpPr>
          <p:nvPr>
            <p:ph type="title"/>
          </p:nvPr>
        </p:nvSpPr>
        <p:spPr>
          <a:xfrm>
            <a:off x="804672" y="802955"/>
            <a:ext cx="4766330" cy="1454051"/>
          </a:xfrm>
        </p:spPr>
        <p:txBody>
          <a:bodyPr vert="horz" lIns="91440" tIns="45720" rIns="91440" bIns="45720" rtlCol="0" anchor="ctr">
            <a:normAutofit/>
          </a:bodyPr>
          <a:lstStyle/>
          <a:p>
            <a:pPr fontAlgn="t"/>
            <a:r>
              <a:rPr lang="en-US" sz="2800" kern="1200">
                <a:solidFill>
                  <a:schemeClr val="tx2"/>
                </a:solidFill>
                <a:latin typeface="+mj-lt"/>
                <a:ea typeface="+mj-ea"/>
                <a:cs typeface="+mj-cs"/>
              </a:rPr>
              <a:t>De una organización con baja madurez digital a una empresa orientada a la transformación</a:t>
            </a:r>
          </a:p>
        </p:txBody>
      </p:sp>
      <p:sp>
        <p:nvSpPr>
          <p:cNvPr id="12" name="CuadroTexto 11">
            <a:extLst>
              <a:ext uri="{FF2B5EF4-FFF2-40B4-BE49-F238E27FC236}">
                <a16:creationId xmlns:a16="http://schemas.microsoft.com/office/drawing/2014/main" id="{42842D8B-79AC-5C34-1D02-6041E54A0D2F}"/>
              </a:ext>
            </a:extLst>
          </p:cNvPr>
          <p:cNvSpPr txBox="1"/>
          <p:nvPr/>
        </p:nvSpPr>
        <p:spPr>
          <a:xfrm>
            <a:off x="804672" y="2421683"/>
            <a:ext cx="4765949" cy="3353476"/>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a:solidFill>
                  <a:schemeClr val="tx2"/>
                </a:solidFill>
              </a:rPr>
              <a:t>TechCorp pasó de una baja madurez digital a una organización altamente digitalizada.</a:t>
            </a:r>
          </a:p>
          <a:p>
            <a:pPr indent="-228600">
              <a:lnSpc>
                <a:spcPct val="90000"/>
              </a:lnSpc>
              <a:spcAft>
                <a:spcPts val="600"/>
              </a:spcAft>
              <a:buFont typeface="Arial" panose="020B0604020202020204" pitchFamily="34" charset="0"/>
              <a:buChar char="•"/>
            </a:pPr>
            <a:endParaRPr lang="en-US">
              <a:solidFill>
                <a:schemeClr val="tx2"/>
              </a:solidFill>
            </a:endParaRPr>
          </a:p>
        </p:txBody>
      </p:sp>
      <p:grpSp>
        <p:nvGrpSpPr>
          <p:cNvPr id="34" name="Group 3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35" name="Freeform: Shape 3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1" name="Marcador de contenido 10">
            <a:extLst>
              <a:ext uri="{FF2B5EF4-FFF2-40B4-BE49-F238E27FC236}">
                <a16:creationId xmlns:a16="http://schemas.microsoft.com/office/drawing/2014/main" id="{C639A9DD-79A6-F1BC-864E-20FAB66E82B0}"/>
              </a:ext>
            </a:extLst>
          </p:cNvPr>
          <p:cNvGraphicFramePr>
            <a:graphicFrameLocks noGrp="1"/>
          </p:cNvGraphicFramePr>
          <p:nvPr>
            <p:ph idx="1"/>
            <p:extLst>
              <p:ext uri="{D42A27DB-BD31-4B8C-83A1-F6EECF244321}">
                <p14:modId xmlns:p14="http://schemas.microsoft.com/office/powerpoint/2010/main" val="3106670011"/>
              </p:ext>
            </p:extLst>
          </p:nvPr>
        </p:nvGraphicFramePr>
        <p:xfrm>
          <a:off x="7708392" y="1700784"/>
          <a:ext cx="4142232" cy="437997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5057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17BDD930-0E65-490A-9CE5-554C357C44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A912C67-99A1-4956-8F68-1846C2177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94B5D2C-1183-27C8-2690-F939538BA570}"/>
              </a:ext>
            </a:extLst>
          </p:cNvPr>
          <p:cNvSpPr>
            <a:spLocks noGrp="1"/>
          </p:cNvSpPr>
          <p:nvPr>
            <p:ph type="title"/>
          </p:nvPr>
        </p:nvSpPr>
        <p:spPr>
          <a:xfrm>
            <a:off x="804672" y="457200"/>
            <a:ext cx="10579398" cy="1299411"/>
          </a:xfrm>
        </p:spPr>
        <p:txBody>
          <a:bodyPr vert="horz" lIns="91440" tIns="45720" rIns="91440" bIns="45720" rtlCol="0" anchor="ctr">
            <a:normAutofit/>
          </a:bodyPr>
          <a:lstStyle/>
          <a:p>
            <a:pPr fontAlgn="t"/>
            <a:r>
              <a:rPr lang="en-US" sz="3600" kern="1200">
                <a:solidFill>
                  <a:schemeClr val="tx2"/>
                </a:solidFill>
                <a:latin typeface="+mj-lt"/>
                <a:ea typeface="+mj-ea"/>
                <a:cs typeface="+mj-cs"/>
              </a:rPr>
              <a:t>La digitalización permitió producir más en menos tiempo</a:t>
            </a:r>
          </a:p>
        </p:txBody>
      </p:sp>
      <p:sp>
        <p:nvSpPr>
          <p:cNvPr id="7" name="CuadroTexto 6">
            <a:extLst>
              <a:ext uri="{FF2B5EF4-FFF2-40B4-BE49-F238E27FC236}">
                <a16:creationId xmlns:a16="http://schemas.microsoft.com/office/drawing/2014/main" id="{0E25D904-6C85-2BA7-7214-F7135B11330D}"/>
              </a:ext>
            </a:extLst>
          </p:cNvPr>
          <p:cNvSpPr txBox="1"/>
          <p:nvPr/>
        </p:nvSpPr>
        <p:spPr>
          <a:xfrm>
            <a:off x="6354871" y="2827419"/>
            <a:ext cx="5029200" cy="3227626"/>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a:solidFill>
                  <a:schemeClr val="tx2"/>
                </a:solidFill>
              </a:rPr>
              <a:t>Durante el período analizado, la productividad aumentó desde 71,6% a 86,8%, mientras la producción creció de 447 a 611 unidades por día. Paralelamente, el tiempo de ciclo disminuyó desde 8,5 a 5,3 horas. Estos resultados evidencian una mejora significativa en la eficiencia operacional de TechCorp.</a:t>
            </a:r>
          </a:p>
          <a:p>
            <a:pPr indent="-228600">
              <a:lnSpc>
                <a:spcPct val="90000"/>
              </a:lnSpc>
              <a:spcAft>
                <a:spcPts val="600"/>
              </a:spcAft>
              <a:buFont typeface="Arial" panose="020B0604020202020204" pitchFamily="34" charset="0"/>
              <a:buChar char="•"/>
            </a:pPr>
            <a:endParaRPr lang="en-US">
              <a:solidFill>
                <a:schemeClr val="tx2"/>
              </a:solidFill>
            </a:endParaRPr>
          </a:p>
        </p:txBody>
      </p:sp>
      <p:grpSp>
        <p:nvGrpSpPr>
          <p:cNvPr id="42" name="Group 41">
            <a:extLst>
              <a:ext uri="{FF2B5EF4-FFF2-40B4-BE49-F238E27FC236}">
                <a16:creationId xmlns:a16="http://schemas.microsoft.com/office/drawing/2014/main" id="{569E5994-073E-4708-B3E6-43BFED0CEB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43" name="Freeform: Shape 42">
              <a:extLst>
                <a:ext uri="{FF2B5EF4-FFF2-40B4-BE49-F238E27FC236}">
                  <a16:creationId xmlns:a16="http://schemas.microsoft.com/office/drawing/2014/main" id="{532F818D-9087-4691-AABA-465619A0C2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68B7668A-5C96-4FB9-BFA9-38094EB87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Freeform: Shape 44">
              <a:extLst>
                <a:ext uri="{FF2B5EF4-FFF2-40B4-BE49-F238E27FC236}">
                  <a16:creationId xmlns:a16="http://schemas.microsoft.com/office/drawing/2014/main" id="{BF4F95BD-8661-4C45-94E3-CF3159BF4C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E85BBF8A-E2FB-47F6-A60F-4FB855D50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DD81D498-EAA8-40F3-8230-AE4DEDA3830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49" name="Freeform: Shape 48">
              <a:extLst>
                <a:ext uri="{FF2B5EF4-FFF2-40B4-BE49-F238E27FC236}">
                  <a16:creationId xmlns:a16="http://schemas.microsoft.com/office/drawing/2014/main" id="{262F2402-5879-41A3-ACEC-6D2811BA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BBD41895-A230-4959-97BA-80F516383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E670BD54-10A6-4092-9E32-647B2F870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52" name="Freeform: Shape 51">
              <a:extLst>
                <a:ext uri="{FF2B5EF4-FFF2-40B4-BE49-F238E27FC236}">
                  <a16:creationId xmlns:a16="http://schemas.microsoft.com/office/drawing/2014/main" id="{1C2B9A82-4826-4BF4-A16E-0B005FE761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6" name="Marcador de contenido 5">
            <a:extLst>
              <a:ext uri="{FF2B5EF4-FFF2-40B4-BE49-F238E27FC236}">
                <a16:creationId xmlns:a16="http://schemas.microsoft.com/office/drawing/2014/main" id="{138EE81B-C8C3-AD80-D330-D300BFDC5C58}"/>
              </a:ext>
            </a:extLst>
          </p:cNvPr>
          <p:cNvGraphicFramePr>
            <a:graphicFrameLocks noGrp="1"/>
          </p:cNvGraphicFramePr>
          <p:nvPr>
            <p:ph idx="1"/>
            <p:extLst>
              <p:ext uri="{D42A27DB-BD31-4B8C-83A1-F6EECF244321}">
                <p14:modId xmlns:p14="http://schemas.microsoft.com/office/powerpoint/2010/main" val="3405032967"/>
              </p:ext>
            </p:extLst>
          </p:nvPr>
        </p:nvGraphicFramePr>
        <p:xfrm>
          <a:off x="804671" y="2837712"/>
          <a:ext cx="4954693" cy="32173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36121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1942232-83D0-49E2-AF9B-1F97E3C1EF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9E70D72-6E23-4015-A4A6-85C120C19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E39CCD3-93D8-04DA-16A8-CAE01BBB94A0}"/>
              </a:ext>
            </a:extLst>
          </p:cNvPr>
          <p:cNvSpPr>
            <a:spLocks noGrp="1"/>
          </p:cNvSpPr>
          <p:nvPr>
            <p:ph type="title"/>
          </p:nvPr>
        </p:nvSpPr>
        <p:spPr>
          <a:xfrm>
            <a:off x="1179576" y="1163848"/>
            <a:ext cx="9829800" cy="1325880"/>
          </a:xfrm>
        </p:spPr>
        <p:txBody>
          <a:bodyPr vert="horz" lIns="91440" tIns="45720" rIns="91440" bIns="45720" rtlCol="0" anchor="b">
            <a:normAutofit/>
          </a:bodyPr>
          <a:lstStyle/>
          <a:p>
            <a:pPr algn="ctr"/>
            <a:r>
              <a:rPr lang="en-US" sz="2800" kern="1200">
                <a:solidFill>
                  <a:schemeClr val="tx2"/>
                </a:solidFill>
                <a:latin typeface="+mj-lt"/>
                <a:ea typeface="+mj-ea"/>
                <a:cs typeface="+mj-cs"/>
              </a:rPr>
              <a:t>La mayor eficiencia se tradujo en una mejor experiencia para el cliente</a:t>
            </a:r>
            <a:br>
              <a:rPr lang="en-US" sz="2800" kern="1200">
                <a:solidFill>
                  <a:schemeClr val="tx2"/>
                </a:solidFill>
                <a:latin typeface="+mj-lt"/>
                <a:ea typeface="+mj-ea"/>
                <a:cs typeface="+mj-cs"/>
              </a:rPr>
            </a:br>
            <a:endParaRPr lang="en-US" sz="2800" kern="1200">
              <a:solidFill>
                <a:schemeClr val="tx2"/>
              </a:solidFill>
              <a:latin typeface="+mj-lt"/>
              <a:ea typeface="+mj-ea"/>
              <a:cs typeface="+mj-cs"/>
            </a:endParaRPr>
          </a:p>
        </p:txBody>
      </p:sp>
      <p:grpSp>
        <p:nvGrpSpPr>
          <p:cNvPr id="17" name="Group 16">
            <a:extLst>
              <a:ext uri="{FF2B5EF4-FFF2-40B4-BE49-F238E27FC236}">
                <a16:creationId xmlns:a16="http://schemas.microsoft.com/office/drawing/2014/main" id="{C28A977F-B603-4D81-B0FC-C8DE048A7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8"/>
            <a:chOff x="-305" y="-1"/>
            <a:chExt cx="3832880" cy="2876136"/>
          </a:xfrm>
        </p:grpSpPr>
        <p:sp>
          <p:nvSpPr>
            <p:cNvPr id="18" name="Freeform: Shape 17">
              <a:extLst>
                <a:ext uri="{FF2B5EF4-FFF2-40B4-BE49-F238E27FC236}">
                  <a16:creationId xmlns:a16="http://schemas.microsoft.com/office/drawing/2014/main" id="{0183CE8C-E039-4B2F-A36E-5FD5CD5DE1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3EB77281-FAB4-40D0-B3F3-264EC4AB2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815E59F3-75FC-494F-8737-5F00A4964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43ADDCFA-B066-4D79-AB71-062E66E58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uadroTexto 7">
            <a:extLst>
              <a:ext uri="{FF2B5EF4-FFF2-40B4-BE49-F238E27FC236}">
                <a16:creationId xmlns:a16="http://schemas.microsoft.com/office/drawing/2014/main" id="{EBCDB0EF-B547-46AB-7CD8-58A8B7AF8309}"/>
              </a:ext>
            </a:extLst>
          </p:cNvPr>
          <p:cNvSpPr txBox="1"/>
          <p:nvPr/>
        </p:nvSpPr>
        <p:spPr>
          <a:xfrm>
            <a:off x="6354871" y="2827419"/>
            <a:ext cx="5029200" cy="3227626"/>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a:solidFill>
                  <a:schemeClr val="tx2"/>
                </a:solidFill>
              </a:rPr>
              <a:t>La transformación digital permitió mejorar los procesos productivos y aumentar el control operacional. Como resultado, la tasa de defectos disminuyó desde 4,17% a 1,27%, mientras que la tasa de reclamos de clientes cayó desde 8,6% a 2,54%. Estos resultados evidencian que las mejoras de eficiencia también se reflejaron en una mayor calidad del servicio entregado al cliente.</a:t>
            </a:r>
          </a:p>
          <a:p>
            <a:pPr indent="-228600">
              <a:lnSpc>
                <a:spcPct val="90000"/>
              </a:lnSpc>
              <a:spcAft>
                <a:spcPts val="600"/>
              </a:spcAft>
              <a:buFont typeface="Arial" panose="020B0604020202020204" pitchFamily="34" charset="0"/>
              <a:buChar char="•"/>
            </a:pPr>
            <a:endParaRPr lang="en-US">
              <a:solidFill>
                <a:schemeClr val="tx2"/>
              </a:solidFill>
            </a:endParaRPr>
          </a:p>
        </p:txBody>
      </p:sp>
      <p:grpSp>
        <p:nvGrpSpPr>
          <p:cNvPr id="23" name="Group 22">
            <a:extLst>
              <a:ext uri="{FF2B5EF4-FFF2-40B4-BE49-F238E27FC236}">
                <a16:creationId xmlns:a16="http://schemas.microsoft.com/office/drawing/2014/main" id="{C78D9229-E61D-4FEE-8321-2F8B64A8CAD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6037" y="4852038"/>
            <a:ext cx="2151670" cy="1860256"/>
            <a:chOff x="-305" y="-4155"/>
            <a:chExt cx="2514948" cy="2174333"/>
          </a:xfrm>
        </p:grpSpPr>
        <p:sp>
          <p:nvSpPr>
            <p:cNvPr id="24" name="Freeform: Shape 23">
              <a:extLst>
                <a:ext uri="{FF2B5EF4-FFF2-40B4-BE49-F238E27FC236}">
                  <a16:creationId xmlns:a16="http://schemas.microsoft.com/office/drawing/2014/main" id="{1FDD3CCB-26A3-4D79-AEB6-7A60CF980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E9AC4470-5113-4709-B29F-CDB937F254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3E0D146C-9DAB-421E-AE88-5F854BF3F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12EB32A5-4408-4F6C-84B2-F9A908237A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7" name="Marcador de contenido 6">
            <a:extLst>
              <a:ext uri="{FF2B5EF4-FFF2-40B4-BE49-F238E27FC236}">
                <a16:creationId xmlns:a16="http://schemas.microsoft.com/office/drawing/2014/main" id="{E6E943A2-D8CC-B761-21D6-8FA276D203A5}"/>
              </a:ext>
            </a:extLst>
          </p:cNvPr>
          <p:cNvGraphicFramePr>
            <a:graphicFrameLocks noGrp="1"/>
          </p:cNvGraphicFramePr>
          <p:nvPr>
            <p:ph idx="1"/>
            <p:extLst>
              <p:ext uri="{D42A27DB-BD31-4B8C-83A1-F6EECF244321}">
                <p14:modId xmlns:p14="http://schemas.microsoft.com/office/powerpoint/2010/main" val="1807850215"/>
              </p:ext>
            </p:extLst>
          </p:nvPr>
        </p:nvGraphicFramePr>
        <p:xfrm>
          <a:off x="804671" y="2837712"/>
          <a:ext cx="4954693" cy="32173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08792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DA0D1DA-6F5B-31A0-1AF0-B91CFD6B29CD}"/>
              </a:ext>
            </a:extLst>
          </p:cNvPr>
          <p:cNvSpPr>
            <a:spLocks noGrp="1"/>
          </p:cNvSpPr>
          <p:nvPr>
            <p:ph type="title"/>
          </p:nvPr>
        </p:nvSpPr>
        <p:spPr>
          <a:xfrm>
            <a:off x="804672" y="802955"/>
            <a:ext cx="4766330" cy="1454051"/>
          </a:xfrm>
        </p:spPr>
        <p:txBody>
          <a:bodyPr vert="horz" lIns="91440" tIns="45720" rIns="91440" bIns="45720" rtlCol="0" anchor="ctr">
            <a:normAutofit/>
          </a:bodyPr>
          <a:lstStyle/>
          <a:p>
            <a:r>
              <a:rPr lang="en-US" sz="2300" kern="1200">
                <a:solidFill>
                  <a:schemeClr val="tx2"/>
                </a:solidFill>
                <a:latin typeface="+mj-lt"/>
                <a:ea typeface="+mj-ea"/>
                <a:cs typeface="+mj-cs"/>
              </a:rPr>
              <a:t>El valor de la transformación surge cuando las personas usan la tecnología</a:t>
            </a:r>
            <a:br>
              <a:rPr lang="en-US" sz="2300" kern="1200">
                <a:solidFill>
                  <a:schemeClr val="tx2"/>
                </a:solidFill>
                <a:latin typeface="+mj-lt"/>
                <a:ea typeface="+mj-ea"/>
                <a:cs typeface="+mj-cs"/>
              </a:rPr>
            </a:br>
            <a:endParaRPr lang="en-US" sz="2300" kern="1200">
              <a:solidFill>
                <a:schemeClr val="tx2"/>
              </a:solidFill>
              <a:latin typeface="+mj-lt"/>
              <a:ea typeface="+mj-ea"/>
              <a:cs typeface="+mj-cs"/>
            </a:endParaRPr>
          </a:p>
        </p:txBody>
      </p:sp>
      <p:sp>
        <p:nvSpPr>
          <p:cNvPr id="12" name="CuadroTexto 11">
            <a:extLst>
              <a:ext uri="{FF2B5EF4-FFF2-40B4-BE49-F238E27FC236}">
                <a16:creationId xmlns:a16="http://schemas.microsoft.com/office/drawing/2014/main" id="{6436A762-888D-54D7-2FF0-840A3F8B716D}"/>
              </a:ext>
            </a:extLst>
          </p:cNvPr>
          <p:cNvSpPr txBox="1"/>
          <p:nvPr/>
        </p:nvSpPr>
        <p:spPr>
          <a:xfrm>
            <a:off x="804672" y="2421683"/>
            <a:ext cx="4765949" cy="3353476"/>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a:solidFill>
                  <a:schemeClr val="tx2"/>
                </a:solidFill>
              </a:rPr>
              <a:t>La productividad manufacturera aumentó desde 71,6% hasta 86,8% a medida que la adopción de sistemas digitales avanzó desde niveles cercanos a 0% hasta prácticamente el 100%. Esto sugiere que la utilización efectiva de la tecnología fue un factor clave en las mejoras operacionales observadas.</a:t>
            </a:r>
          </a:p>
          <a:p>
            <a:pPr indent="-228600">
              <a:lnSpc>
                <a:spcPct val="90000"/>
              </a:lnSpc>
              <a:spcAft>
                <a:spcPts val="600"/>
              </a:spcAft>
              <a:buFont typeface="Arial" panose="020B0604020202020204" pitchFamily="34" charset="0"/>
              <a:buChar char="•"/>
            </a:pPr>
            <a:endParaRPr lang="en-US">
              <a:solidFill>
                <a:schemeClr val="tx2"/>
              </a:solidFill>
            </a:endParaRPr>
          </a:p>
        </p:txBody>
      </p:sp>
      <p:grpSp>
        <p:nvGrpSpPr>
          <p:cNvPr id="21" name="Group 20">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22" name="Freeform: Shape 21">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1" name="Marcador de contenido 10">
            <a:extLst>
              <a:ext uri="{FF2B5EF4-FFF2-40B4-BE49-F238E27FC236}">
                <a16:creationId xmlns:a16="http://schemas.microsoft.com/office/drawing/2014/main" id="{CC417F02-93AB-F0CB-79D5-D1E1F6969328}"/>
              </a:ext>
            </a:extLst>
          </p:cNvPr>
          <p:cNvGraphicFramePr>
            <a:graphicFrameLocks noGrp="1"/>
          </p:cNvGraphicFramePr>
          <p:nvPr>
            <p:ph idx="1"/>
            <p:extLst>
              <p:ext uri="{D42A27DB-BD31-4B8C-83A1-F6EECF244321}">
                <p14:modId xmlns:p14="http://schemas.microsoft.com/office/powerpoint/2010/main" val="843459615"/>
              </p:ext>
            </p:extLst>
          </p:nvPr>
        </p:nvGraphicFramePr>
        <p:xfrm>
          <a:off x="7708392" y="1700784"/>
          <a:ext cx="4142232" cy="437997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92894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7BDD930-0E65-490A-9CE5-554C357C44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A912C67-99A1-4956-8F68-1846C2177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E857375-F1B4-FC22-AE94-470C884E1A65}"/>
              </a:ext>
            </a:extLst>
          </p:cNvPr>
          <p:cNvSpPr>
            <a:spLocks noGrp="1"/>
          </p:cNvSpPr>
          <p:nvPr>
            <p:ph type="title"/>
          </p:nvPr>
        </p:nvSpPr>
        <p:spPr>
          <a:xfrm>
            <a:off x="804672" y="457200"/>
            <a:ext cx="10579398" cy="1299411"/>
          </a:xfrm>
        </p:spPr>
        <p:txBody>
          <a:bodyPr vert="horz" lIns="91440" tIns="45720" rIns="91440" bIns="45720" rtlCol="0" anchor="ctr">
            <a:normAutofit/>
          </a:bodyPr>
          <a:lstStyle/>
          <a:p>
            <a:r>
              <a:rPr lang="en-US" sz="3600" b="1" kern="1200">
                <a:solidFill>
                  <a:schemeClr val="tx2"/>
                </a:solidFill>
                <a:latin typeface="+mj-lt"/>
                <a:ea typeface="+mj-ea"/>
                <a:cs typeface="+mj-cs"/>
              </a:rPr>
              <a:t>Del ROI negativo al ROI positivo</a:t>
            </a:r>
            <a:br>
              <a:rPr lang="en-US" sz="3600" kern="1200">
                <a:solidFill>
                  <a:schemeClr val="tx2"/>
                </a:solidFill>
                <a:latin typeface="+mj-lt"/>
                <a:ea typeface="+mj-ea"/>
                <a:cs typeface="+mj-cs"/>
              </a:rPr>
            </a:br>
            <a:endParaRPr lang="en-US" sz="3600" kern="1200">
              <a:solidFill>
                <a:schemeClr val="tx2"/>
              </a:solidFill>
              <a:latin typeface="+mj-lt"/>
              <a:ea typeface="+mj-ea"/>
              <a:cs typeface="+mj-cs"/>
            </a:endParaRPr>
          </a:p>
        </p:txBody>
      </p:sp>
      <p:sp>
        <p:nvSpPr>
          <p:cNvPr id="7" name="CuadroTexto 6">
            <a:extLst>
              <a:ext uri="{FF2B5EF4-FFF2-40B4-BE49-F238E27FC236}">
                <a16:creationId xmlns:a16="http://schemas.microsoft.com/office/drawing/2014/main" id="{4F4BF125-548E-30B7-E32E-16E86233319A}"/>
              </a:ext>
            </a:extLst>
          </p:cNvPr>
          <p:cNvSpPr txBox="1"/>
          <p:nvPr/>
        </p:nvSpPr>
        <p:spPr>
          <a:xfrm>
            <a:off x="6354871" y="2827419"/>
            <a:ext cx="5029200" cy="3227626"/>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a:solidFill>
                  <a:schemeClr val="tx2"/>
                </a:solidFill>
              </a:rPr>
              <a:t>Durante las primeras etapas del proceso, TechCorp enfrentó costos asociados a tecnología, capacitación y gestión del cambio, lo que produjo un ROI negativo. Sin embargo, a medida que aumentó la productividad, disminuyeron los defectos y se consolidó la adopción digital, los beneficios comenzaron a superar los costos. En abril de 2024 la organización alcanzó un ROI positivo por primera vez y posteriormente mantuvo una tendencia favorable, cerrando el período con un retorno de 10,9%.</a:t>
            </a:r>
          </a:p>
          <a:p>
            <a:pPr indent="-228600">
              <a:lnSpc>
                <a:spcPct val="90000"/>
              </a:lnSpc>
              <a:spcAft>
                <a:spcPts val="600"/>
              </a:spcAft>
              <a:buFont typeface="Arial" panose="020B0604020202020204" pitchFamily="34" charset="0"/>
              <a:buChar char="•"/>
            </a:pPr>
            <a:endParaRPr lang="en-US">
              <a:solidFill>
                <a:schemeClr val="tx2"/>
              </a:solidFill>
            </a:endParaRPr>
          </a:p>
        </p:txBody>
      </p:sp>
      <p:grpSp>
        <p:nvGrpSpPr>
          <p:cNvPr id="16" name="Group 15">
            <a:extLst>
              <a:ext uri="{FF2B5EF4-FFF2-40B4-BE49-F238E27FC236}">
                <a16:creationId xmlns:a16="http://schemas.microsoft.com/office/drawing/2014/main" id="{569E5994-073E-4708-B3E6-43BFED0CEB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381784" y="4178643"/>
            <a:ext cx="3061444" cy="2297267"/>
            <a:chOff x="-305" y="-1"/>
            <a:chExt cx="3832880" cy="2876136"/>
          </a:xfrm>
        </p:grpSpPr>
        <p:sp>
          <p:nvSpPr>
            <p:cNvPr id="17" name="Freeform: Shape 16">
              <a:extLst>
                <a:ext uri="{FF2B5EF4-FFF2-40B4-BE49-F238E27FC236}">
                  <a16:creationId xmlns:a16="http://schemas.microsoft.com/office/drawing/2014/main" id="{532F818D-9087-4691-AABA-465619A0C2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8B7668A-5C96-4FB9-BFA9-38094EB87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BF4F95BD-8661-4C45-94E3-CF3159BF4C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E85BBF8A-E2FB-47F6-A60F-4FB855D50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DD81D498-EAA8-40F3-8230-AE4DEDA3830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906190" y="0"/>
            <a:ext cx="3282247" cy="2837712"/>
            <a:chOff x="-305" y="-4155"/>
            <a:chExt cx="2514948" cy="2174333"/>
          </a:xfrm>
        </p:grpSpPr>
        <p:sp>
          <p:nvSpPr>
            <p:cNvPr id="23" name="Freeform: Shape 22">
              <a:extLst>
                <a:ext uri="{FF2B5EF4-FFF2-40B4-BE49-F238E27FC236}">
                  <a16:creationId xmlns:a16="http://schemas.microsoft.com/office/drawing/2014/main" id="{262F2402-5879-41A3-ACEC-6D2811BA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BBD41895-A230-4959-97BA-80F516383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E670BD54-10A6-4092-9E32-647B2F870D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6" name="Freeform: Shape 25">
              <a:extLst>
                <a:ext uri="{FF2B5EF4-FFF2-40B4-BE49-F238E27FC236}">
                  <a16:creationId xmlns:a16="http://schemas.microsoft.com/office/drawing/2014/main" id="{1C2B9A82-4826-4BF4-A16E-0B005FE761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6" name="Marcador de contenido 5">
            <a:extLst>
              <a:ext uri="{FF2B5EF4-FFF2-40B4-BE49-F238E27FC236}">
                <a16:creationId xmlns:a16="http://schemas.microsoft.com/office/drawing/2014/main" id="{C027B8CC-3C03-5415-28D7-0B9009DCC768}"/>
              </a:ext>
            </a:extLst>
          </p:cNvPr>
          <p:cNvGraphicFramePr>
            <a:graphicFrameLocks noGrp="1"/>
          </p:cNvGraphicFramePr>
          <p:nvPr>
            <p:ph idx="1"/>
            <p:extLst>
              <p:ext uri="{D42A27DB-BD31-4B8C-83A1-F6EECF244321}">
                <p14:modId xmlns:p14="http://schemas.microsoft.com/office/powerpoint/2010/main" val="2815529535"/>
              </p:ext>
            </p:extLst>
          </p:nvPr>
        </p:nvGraphicFramePr>
        <p:xfrm>
          <a:off x="804671" y="2837712"/>
          <a:ext cx="4954693" cy="32173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8010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13">
            <a:extLst>
              <a:ext uri="{FF2B5EF4-FFF2-40B4-BE49-F238E27FC236}">
                <a16:creationId xmlns:a16="http://schemas.microsoft.com/office/drawing/2014/main" id="{D1942232-83D0-49E2-AF9B-1F97E3C1EF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15">
            <a:extLst>
              <a:ext uri="{FF2B5EF4-FFF2-40B4-BE49-F238E27FC236}">
                <a16:creationId xmlns:a16="http://schemas.microsoft.com/office/drawing/2014/main" id="{E9E70D72-6E23-4015-A4A6-85C120C19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7AA1272-E4F0-F441-FFF8-2F8367553165}"/>
              </a:ext>
            </a:extLst>
          </p:cNvPr>
          <p:cNvSpPr>
            <a:spLocks noGrp="1"/>
          </p:cNvSpPr>
          <p:nvPr>
            <p:ph type="title"/>
          </p:nvPr>
        </p:nvSpPr>
        <p:spPr>
          <a:xfrm>
            <a:off x="1179576" y="1163848"/>
            <a:ext cx="9829800" cy="1325880"/>
          </a:xfrm>
        </p:spPr>
        <p:txBody>
          <a:bodyPr vert="horz" lIns="91440" tIns="45720" rIns="91440" bIns="45720" rtlCol="0" anchor="b">
            <a:normAutofit/>
          </a:bodyPr>
          <a:lstStyle/>
          <a:p>
            <a:pPr algn="ctr" fontAlgn="t"/>
            <a:r>
              <a:rPr lang="en-US" sz="3600" b="1" kern="1200">
                <a:solidFill>
                  <a:schemeClr val="tx2"/>
                </a:solidFill>
                <a:latin typeface="+mj-lt"/>
                <a:ea typeface="+mj-ea"/>
                <a:cs typeface="+mj-cs"/>
              </a:rPr>
              <a:t>Próximos pasos para consolidar la transformación digital</a:t>
            </a:r>
            <a:endParaRPr lang="en-US" sz="3600" kern="1200">
              <a:solidFill>
                <a:schemeClr val="tx2"/>
              </a:solidFill>
              <a:latin typeface="+mj-lt"/>
              <a:ea typeface="+mj-ea"/>
              <a:cs typeface="+mj-cs"/>
            </a:endParaRPr>
          </a:p>
        </p:txBody>
      </p:sp>
      <p:grpSp>
        <p:nvGrpSpPr>
          <p:cNvPr id="32" name="Group 17">
            <a:extLst>
              <a:ext uri="{FF2B5EF4-FFF2-40B4-BE49-F238E27FC236}">
                <a16:creationId xmlns:a16="http://schemas.microsoft.com/office/drawing/2014/main" id="{C28A977F-B603-4D81-B0FC-C8DE048A7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8"/>
            <a:chOff x="-305" y="-1"/>
            <a:chExt cx="3832880" cy="2876136"/>
          </a:xfrm>
        </p:grpSpPr>
        <p:sp>
          <p:nvSpPr>
            <p:cNvPr id="33" name="Freeform: Shape 18">
              <a:extLst>
                <a:ext uri="{FF2B5EF4-FFF2-40B4-BE49-F238E27FC236}">
                  <a16:creationId xmlns:a16="http://schemas.microsoft.com/office/drawing/2014/main" id="{0183CE8C-E039-4B2F-A36E-5FD5CD5DE1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9">
              <a:extLst>
                <a:ext uri="{FF2B5EF4-FFF2-40B4-BE49-F238E27FC236}">
                  <a16:creationId xmlns:a16="http://schemas.microsoft.com/office/drawing/2014/main" id="{3EB77281-FAB4-40D0-B3F3-264EC4AB2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20">
              <a:extLst>
                <a:ext uri="{FF2B5EF4-FFF2-40B4-BE49-F238E27FC236}">
                  <a16:creationId xmlns:a16="http://schemas.microsoft.com/office/drawing/2014/main" id="{815E59F3-75FC-494F-8737-5F00A4964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21">
              <a:extLst>
                <a:ext uri="{FF2B5EF4-FFF2-40B4-BE49-F238E27FC236}">
                  <a16:creationId xmlns:a16="http://schemas.microsoft.com/office/drawing/2014/main" id="{43ADDCFA-B066-4D79-AB71-062E66E58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CuadroTexto 8">
            <a:extLst>
              <a:ext uri="{FF2B5EF4-FFF2-40B4-BE49-F238E27FC236}">
                <a16:creationId xmlns:a16="http://schemas.microsoft.com/office/drawing/2014/main" id="{D64300D7-266B-7030-319D-FFE058114DF3}"/>
              </a:ext>
            </a:extLst>
          </p:cNvPr>
          <p:cNvSpPr txBox="1"/>
          <p:nvPr/>
        </p:nvSpPr>
        <p:spPr>
          <a:xfrm>
            <a:off x="6354871" y="2827419"/>
            <a:ext cx="5029200" cy="3227626"/>
          </a:xfrm>
          <a:prstGeom prst="rect">
            <a:avLst/>
          </a:prstGeom>
        </p:spPr>
        <p:txBody>
          <a:bodyPr vert="horz" lIns="91440" tIns="45720" rIns="91440" bIns="45720" rtlCol="0" anchor="ctr">
            <a:normAutofit/>
          </a:bodyPr>
          <a:lstStyle/>
          <a:p>
            <a:pPr indent="-228600" fontAlgn="t">
              <a:lnSpc>
                <a:spcPct val="90000"/>
              </a:lnSpc>
              <a:spcAft>
                <a:spcPts val="600"/>
              </a:spcAft>
              <a:buFont typeface="Arial" panose="020B0604020202020204" pitchFamily="34" charset="0"/>
              <a:buChar char="•"/>
            </a:pPr>
            <a:r>
              <a:rPr lang="en-US" b="0" i="0">
                <a:solidFill>
                  <a:schemeClr val="tx2"/>
                </a:solidFill>
                <a:effectLst/>
              </a:rPr>
              <a:t>Los resultados obtenidos demuestran que la transformación digital ha sido exitosa. Por ello, la organización debe enfocar sus próximos esfuerzos en fortalecer el uso de datos, mantener altos niveles de adopción tecnológica y avanzar en iniciativas de automatización que permitan seguir mejorando la productividad y la eficiencia operacional.</a:t>
            </a:r>
          </a:p>
        </p:txBody>
      </p:sp>
      <p:grpSp>
        <p:nvGrpSpPr>
          <p:cNvPr id="37" name="Group 23">
            <a:extLst>
              <a:ext uri="{FF2B5EF4-FFF2-40B4-BE49-F238E27FC236}">
                <a16:creationId xmlns:a16="http://schemas.microsoft.com/office/drawing/2014/main" id="{C78D9229-E61D-4FEE-8321-2F8B64A8CAD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6037" y="4852038"/>
            <a:ext cx="2151670" cy="1860256"/>
            <a:chOff x="-305" y="-4155"/>
            <a:chExt cx="2514948" cy="2174333"/>
          </a:xfrm>
        </p:grpSpPr>
        <p:sp>
          <p:nvSpPr>
            <p:cNvPr id="38" name="Freeform: Shape 24">
              <a:extLst>
                <a:ext uri="{FF2B5EF4-FFF2-40B4-BE49-F238E27FC236}">
                  <a16:creationId xmlns:a16="http://schemas.microsoft.com/office/drawing/2014/main" id="{1FDD3CCB-26A3-4D79-AEB6-7A60CF980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25">
              <a:extLst>
                <a:ext uri="{FF2B5EF4-FFF2-40B4-BE49-F238E27FC236}">
                  <a16:creationId xmlns:a16="http://schemas.microsoft.com/office/drawing/2014/main" id="{E9AC4470-5113-4709-B29F-CDB937F254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26">
              <a:extLst>
                <a:ext uri="{FF2B5EF4-FFF2-40B4-BE49-F238E27FC236}">
                  <a16:creationId xmlns:a16="http://schemas.microsoft.com/office/drawing/2014/main" id="{3E0D146C-9DAB-421E-AE88-5F854BF3F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1" name="Freeform: Shape 27">
              <a:extLst>
                <a:ext uri="{FF2B5EF4-FFF2-40B4-BE49-F238E27FC236}">
                  <a16:creationId xmlns:a16="http://schemas.microsoft.com/office/drawing/2014/main" id="{12EB32A5-4408-4F6C-84B2-F9A908237A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6" name="Marcador de contenido 5">
            <a:extLst>
              <a:ext uri="{FF2B5EF4-FFF2-40B4-BE49-F238E27FC236}">
                <a16:creationId xmlns:a16="http://schemas.microsoft.com/office/drawing/2014/main" id="{44151469-2E5B-EAC6-2B09-5412AA086124}"/>
              </a:ext>
            </a:extLst>
          </p:cNvPr>
          <p:cNvGraphicFramePr>
            <a:graphicFrameLocks noGrp="1"/>
          </p:cNvGraphicFramePr>
          <p:nvPr>
            <p:ph idx="1"/>
            <p:extLst>
              <p:ext uri="{D42A27DB-BD31-4B8C-83A1-F6EECF244321}">
                <p14:modId xmlns:p14="http://schemas.microsoft.com/office/powerpoint/2010/main" val="574335397"/>
              </p:ext>
            </p:extLst>
          </p:nvPr>
        </p:nvGraphicFramePr>
        <p:xfrm>
          <a:off x="804671" y="2837712"/>
          <a:ext cx="4954693" cy="32173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1344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419</Words>
  <Application>Microsoft Office PowerPoint</Application>
  <PresentationFormat>Panorámica</PresentationFormat>
  <Paragraphs>21</Paragraphs>
  <Slides>7</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vt:i4>
      </vt:variant>
    </vt:vector>
  </HeadingPairs>
  <TitlesOfParts>
    <vt:vector size="12" baseType="lpstr">
      <vt:lpstr>Aptos</vt:lpstr>
      <vt:lpstr>Aptos Display</vt:lpstr>
      <vt:lpstr>Arial</vt:lpstr>
      <vt:lpstr>Segoe UI</vt:lpstr>
      <vt:lpstr>Tema de Office</vt:lpstr>
      <vt:lpstr>  Narrativa de datos para la transformación digital </vt:lpstr>
      <vt:lpstr>De una organización con baja madurez digital a una empresa orientada a la transformación</vt:lpstr>
      <vt:lpstr>La digitalización permitió producir más en menos tiempo</vt:lpstr>
      <vt:lpstr>La mayor eficiencia se tradujo en una mejor experiencia para el cliente </vt:lpstr>
      <vt:lpstr>El valor de la transformación surge cuando las personas usan la tecnología </vt:lpstr>
      <vt:lpstr>Del ROI negativo al ROI positivo </vt:lpstr>
      <vt:lpstr>Próximos pasos para consolidar la transformación digital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Benjamin  Jelvez Espinoza</dc:creator>
  <cp:lastModifiedBy>Benjamin  Jelvez Espinoza</cp:lastModifiedBy>
  <cp:revision>1</cp:revision>
  <dcterms:created xsi:type="dcterms:W3CDTF">2026-08-24T22:34:45Z</dcterms:created>
  <dcterms:modified xsi:type="dcterms:W3CDTF">2026-08-24T23:28:04Z</dcterms:modified>
</cp:coreProperties>
</file>